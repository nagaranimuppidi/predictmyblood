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31"/>
  </p:notesMasterIdLst>
  <p:sldIdLst>
    <p:sldId id="287" r:id="rId4"/>
    <p:sldId id="257" r:id="rId5"/>
    <p:sldId id="301" r:id="rId6"/>
    <p:sldId id="299" r:id="rId7"/>
    <p:sldId id="258" r:id="rId8"/>
    <p:sldId id="259" r:id="rId9"/>
    <p:sldId id="260" r:id="rId10"/>
    <p:sldId id="261" r:id="rId11"/>
    <p:sldId id="262" r:id="rId12"/>
    <p:sldId id="263" r:id="rId13"/>
    <p:sldId id="264" r:id="rId14"/>
    <p:sldId id="302" r:id="rId15"/>
    <p:sldId id="268" r:id="rId16"/>
    <p:sldId id="269" r:id="rId17"/>
    <p:sldId id="270" r:id="rId18"/>
    <p:sldId id="288" r:id="rId19"/>
    <p:sldId id="289" r:id="rId20"/>
    <p:sldId id="290" r:id="rId21"/>
    <p:sldId id="292" r:id="rId22"/>
    <p:sldId id="293" r:id="rId23"/>
    <p:sldId id="294" r:id="rId24"/>
    <p:sldId id="295" r:id="rId25"/>
    <p:sldId id="303" r:id="rId26"/>
    <p:sldId id="296" r:id="rId27"/>
    <p:sldId id="297" r:id="rId28"/>
    <p:sldId id="298" r:id="rId29"/>
    <p:sldId id="300" r:id="rId30"/>
  </p:sldIdLst>
  <p:sldSz cx="10080625" cy="567055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57" d="100"/>
          <a:sy n="57" d="100"/>
        </p:scale>
        <p:origin x="-77" y="-816"/>
      </p:cViewPr>
      <p:guideLst>
        <p:guide orient="horz" pos="1786"/>
        <p:guide pos="3175"/>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C35B0D45-C5C6-4840-A240-81FE844FAD80}" type="datetimeFigureOut">
              <a:rPr lang="en-US" smtClean="0"/>
              <a:pPr/>
              <a:t>5/22/2025</a:t>
            </a:fld>
            <a:endParaRPr lang="en-US"/>
          </a:p>
        </p:txBody>
      </p:sp>
      <p:sp>
        <p:nvSpPr>
          <p:cNvPr id="4" name="Slide Image Placeholder 3"/>
          <p:cNvSpPr>
            <a:spLocks noGrp="1" noRot="1" noChangeAspect="1"/>
          </p:cNvSpPr>
          <p:nvPr>
            <p:ph type="sldImg" idx="2"/>
          </p:nvPr>
        </p:nvSpPr>
        <p:spPr>
          <a:xfrm>
            <a:off x="215900" y="801688"/>
            <a:ext cx="7127875" cy="40100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B2BB0686-6ADC-4D72-BD2F-5A2689CFBA7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3" name="PlaceHolder 2"/>
          <p:cNvSpPr>
            <a:spLocks noGrp="1"/>
          </p:cNvSpPr>
          <p:nvPr>
            <p:ph type="subTitle"/>
          </p:nvPr>
        </p:nvSpPr>
        <p:spPr>
          <a:xfrm>
            <a:off x="503640" y="1326600"/>
            <a:ext cx="9072000" cy="328860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5" name="PlaceHolder 2"/>
          <p:cNvSpPr>
            <a:spLocks noGrp="1"/>
          </p:cNvSpPr>
          <p:nvPr>
            <p:ph/>
          </p:nvPr>
        </p:nvSpPr>
        <p:spPr>
          <a:xfrm>
            <a:off x="503640" y="1326600"/>
            <a:ext cx="907200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7" name="PlaceHolder 2"/>
          <p:cNvSpPr>
            <a:spLocks noGrp="1"/>
          </p:cNvSpPr>
          <p:nvPr>
            <p:ph/>
          </p:nvPr>
        </p:nvSpPr>
        <p:spPr>
          <a:xfrm>
            <a:off x="50364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8" name="PlaceHolder 3"/>
          <p:cNvSpPr>
            <a:spLocks noGrp="1"/>
          </p:cNvSpPr>
          <p:nvPr>
            <p:ph/>
          </p:nvPr>
        </p:nvSpPr>
        <p:spPr>
          <a:xfrm>
            <a:off x="515232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503640" y="226080"/>
            <a:ext cx="9072000" cy="439020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12"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3" name="PlaceHolder 3"/>
          <p:cNvSpPr>
            <a:spLocks noGrp="1"/>
          </p:cNvSpPr>
          <p:nvPr>
            <p:ph/>
          </p:nvPr>
        </p:nvSpPr>
        <p:spPr>
          <a:xfrm>
            <a:off x="515232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4" name="PlaceHolder 4"/>
          <p:cNvSpPr>
            <a:spLocks noGrp="1"/>
          </p:cNvSpPr>
          <p:nvPr>
            <p:ph/>
          </p:nvPr>
        </p:nvSpPr>
        <p:spPr>
          <a:xfrm>
            <a:off x="50364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16" name="PlaceHolder 2"/>
          <p:cNvSpPr>
            <a:spLocks noGrp="1"/>
          </p:cNvSpPr>
          <p:nvPr>
            <p:ph/>
          </p:nvPr>
        </p:nvSpPr>
        <p:spPr>
          <a:xfrm>
            <a:off x="50364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7"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8" name="PlaceHolder 4"/>
          <p:cNvSpPr>
            <a:spLocks noGrp="1"/>
          </p:cNvSpPr>
          <p:nvPr>
            <p:ph/>
          </p:nvPr>
        </p:nvSpPr>
        <p:spPr>
          <a:xfrm>
            <a:off x="515232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20"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21"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22" name="PlaceHolder 4"/>
          <p:cNvSpPr>
            <a:spLocks noGrp="1"/>
          </p:cNvSpPr>
          <p:nvPr>
            <p:ph/>
          </p:nvPr>
        </p:nvSpPr>
        <p:spPr>
          <a:xfrm>
            <a:off x="503640" y="304452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24" name="PlaceHolder 2"/>
          <p:cNvSpPr>
            <a:spLocks noGrp="1"/>
          </p:cNvSpPr>
          <p:nvPr>
            <p:ph/>
          </p:nvPr>
        </p:nvSpPr>
        <p:spPr>
          <a:xfrm>
            <a:off x="503640" y="132660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25" name="PlaceHolder 3"/>
          <p:cNvSpPr>
            <a:spLocks noGrp="1"/>
          </p:cNvSpPr>
          <p:nvPr>
            <p:ph/>
          </p:nvPr>
        </p:nvSpPr>
        <p:spPr>
          <a:xfrm>
            <a:off x="503640" y="304452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27"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28"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29" name="PlaceHolder 4"/>
          <p:cNvSpPr>
            <a:spLocks noGrp="1"/>
          </p:cNvSpPr>
          <p:nvPr>
            <p:ph/>
          </p:nvPr>
        </p:nvSpPr>
        <p:spPr>
          <a:xfrm>
            <a:off x="50364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30" name="PlaceHolder 5"/>
          <p:cNvSpPr>
            <a:spLocks noGrp="1"/>
          </p:cNvSpPr>
          <p:nvPr>
            <p:ph/>
          </p:nvPr>
        </p:nvSpPr>
        <p:spPr>
          <a:xfrm>
            <a:off x="515232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32" name="PlaceHolder 2"/>
          <p:cNvSpPr>
            <a:spLocks noGrp="1"/>
          </p:cNvSpPr>
          <p:nvPr>
            <p:ph/>
          </p:nvPr>
        </p:nvSpPr>
        <p:spPr>
          <a:xfrm>
            <a:off x="50364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33" name="PlaceHolder 3"/>
          <p:cNvSpPr>
            <a:spLocks noGrp="1"/>
          </p:cNvSpPr>
          <p:nvPr>
            <p:ph/>
          </p:nvPr>
        </p:nvSpPr>
        <p:spPr>
          <a:xfrm>
            <a:off x="357120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34" name="PlaceHolder 4"/>
          <p:cNvSpPr>
            <a:spLocks noGrp="1"/>
          </p:cNvSpPr>
          <p:nvPr>
            <p:ph/>
          </p:nvPr>
        </p:nvSpPr>
        <p:spPr>
          <a:xfrm>
            <a:off x="663876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35" name="PlaceHolder 5"/>
          <p:cNvSpPr>
            <a:spLocks noGrp="1"/>
          </p:cNvSpPr>
          <p:nvPr>
            <p:ph/>
          </p:nvPr>
        </p:nvSpPr>
        <p:spPr>
          <a:xfrm>
            <a:off x="50364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36" name="PlaceHolder 6"/>
          <p:cNvSpPr>
            <a:spLocks noGrp="1"/>
          </p:cNvSpPr>
          <p:nvPr>
            <p:ph/>
          </p:nvPr>
        </p:nvSpPr>
        <p:spPr>
          <a:xfrm>
            <a:off x="357120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37" name="PlaceHolder 7"/>
          <p:cNvSpPr>
            <a:spLocks noGrp="1"/>
          </p:cNvSpPr>
          <p:nvPr>
            <p:ph/>
          </p:nvPr>
        </p:nvSpPr>
        <p:spPr>
          <a:xfrm>
            <a:off x="663876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CA6B3BD5-F49C-4126-BDE8-93BD2F6A2A98}" type="slidenum">
              <a:rPr/>
              <a:pPr/>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3"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44" name="PlaceHolder 2"/>
          <p:cNvSpPr>
            <a:spLocks noGrp="1"/>
          </p:cNvSpPr>
          <p:nvPr>
            <p:ph type="subTitle"/>
          </p:nvPr>
        </p:nvSpPr>
        <p:spPr>
          <a:xfrm>
            <a:off x="503640" y="1326600"/>
            <a:ext cx="9072000" cy="328860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50E7AD1E-8826-473F-9489-7B3F1B20EB46}" type="slidenum">
              <a:rPr/>
              <a:pPr/>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46" name="PlaceHolder 2"/>
          <p:cNvSpPr>
            <a:spLocks noGrp="1"/>
          </p:cNvSpPr>
          <p:nvPr>
            <p:ph/>
          </p:nvPr>
        </p:nvSpPr>
        <p:spPr>
          <a:xfrm>
            <a:off x="503640" y="1326600"/>
            <a:ext cx="907200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C5C61183-FA01-43B6-B89D-FB99F8015516}" type="slidenum">
              <a:rPr/>
              <a:pPr/>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48" name="PlaceHolder 2"/>
          <p:cNvSpPr>
            <a:spLocks noGrp="1"/>
          </p:cNvSpPr>
          <p:nvPr>
            <p:ph/>
          </p:nvPr>
        </p:nvSpPr>
        <p:spPr>
          <a:xfrm>
            <a:off x="50364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49" name="PlaceHolder 3"/>
          <p:cNvSpPr>
            <a:spLocks noGrp="1"/>
          </p:cNvSpPr>
          <p:nvPr>
            <p:ph/>
          </p:nvPr>
        </p:nvSpPr>
        <p:spPr>
          <a:xfrm>
            <a:off x="515232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5731B0F0-4DDD-4FAD-BA9B-726A5DDAE17D}" type="slidenum">
              <a:rPr/>
              <a:pPr/>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0E995AD3-4911-46BD-B481-63E7435C971F}" type="slidenum">
              <a:rPr/>
              <a:pPr/>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1" name="PlaceHolder 1"/>
          <p:cNvSpPr>
            <a:spLocks noGrp="1"/>
          </p:cNvSpPr>
          <p:nvPr>
            <p:ph type="subTitle"/>
          </p:nvPr>
        </p:nvSpPr>
        <p:spPr>
          <a:xfrm>
            <a:off x="503640" y="226080"/>
            <a:ext cx="9072000" cy="439020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A8DAA6A3-2F19-45C7-B893-E3385FA1A3D6}" type="slidenum">
              <a:rPr/>
              <a:pPr/>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53"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54" name="PlaceHolder 3"/>
          <p:cNvSpPr>
            <a:spLocks noGrp="1"/>
          </p:cNvSpPr>
          <p:nvPr>
            <p:ph/>
          </p:nvPr>
        </p:nvSpPr>
        <p:spPr>
          <a:xfrm>
            <a:off x="515232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55" name="PlaceHolder 4"/>
          <p:cNvSpPr>
            <a:spLocks noGrp="1"/>
          </p:cNvSpPr>
          <p:nvPr>
            <p:ph/>
          </p:nvPr>
        </p:nvSpPr>
        <p:spPr>
          <a:xfrm>
            <a:off x="50364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818E507A-16F0-45B1-B375-BB2AF658240D}" type="slidenum">
              <a:rPr/>
              <a:pPr/>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57" name="PlaceHolder 2"/>
          <p:cNvSpPr>
            <a:spLocks noGrp="1"/>
          </p:cNvSpPr>
          <p:nvPr>
            <p:ph/>
          </p:nvPr>
        </p:nvSpPr>
        <p:spPr>
          <a:xfrm>
            <a:off x="50364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58"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59" name="PlaceHolder 4"/>
          <p:cNvSpPr>
            <a:spLocks noGrp="1"/>
          </p:cNvSpPr>
          <p:nvPr>
            <p:ph/>
          </p:nvPr>
        </p:nvSpPr>
        <p:spPr>
          <a:xfrm>
            <a:off x="515232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B6CF78CF-80C8-4F89-8E57-1D20389A0D05}" type="slidenum">
              <a:rPr/>
              <a:pPr/>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61"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62"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63" name="PlaceHolder 4"/>
          <p:cNvSpPr>
            <a:spLocks noGrp="1"/>
          </p:cNvSpPr>
          <p:nvPr>
            <p:ph/>
          </p:nvPr>
        </p:nvSpPr>
        <p:spPr>
          <a:xfrm>
            <a:off x="503640" y="304452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618326CD-D902-493F-A10F-E3D5941FFFF1}" type="slidenum">
              <a:rPr/>
              <a:pPr/>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65" name="PlaceHolder 2"/>
          <p:cNvSpPr>
            <a:spLocks noGrp="1"/>
          </p:cNvSpPr>
          <p:nvPr>
            <p:ph/>
          </p:nvPr>
        </p:nvSpPr>
        <p:spPr>
          <a:xfrm>
            <a:off x="503640" y="132660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66" name="PlaceHolder 3"/>
          <p:cNvSpPr>
            <a:spLocks noGrp="1"/>
          </p:cNvSpPr>
          <p:nvPr>
            <p:ph/>
          </p:nvPr>
        </p:nvSpPr>
        <p:spPr>
          <a:xfrm>
            <a:off x="503640" y="304452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5478E040-D149-4E01-B6FC-3F7993F62CE3}" type="slidenum">
              <a:rPr/>
              <a:pPr/>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68"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69"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70" name="PlaceHolder 4"/>
          <p:cNvSpPr>
            <a:spLocks noGrp="1"/>
          </p:cNvSpPr>
          <p:nvPr>
            <p:ph/>
          </p:nvPr>
        </p:nvSpPr>
        <p:spPr>
          <a:xfrm>
            <a:off x="50364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71" name="PlaceHolder 5"/>
          <p:cNvSpPr>
            <a:spLocks noGrp="1"/>
          </p:cNvSpPr>
          <p:nvPr>
            <p:ph/>
          </p:nvPr>
        </p:nvSpPr>
        <p:spPr>
          <a:xfrm>
            <a:off x="515232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47B5BF8B-D432-4A0B-B1FA-35EE2C64B852}" type="slidenum">
              <a:rPr/>
              <a:pPr/>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73" name="PlaceHolder 2"/>
          <p:cNvSpPr>
            <a:spLocks noGrp="1"/>
          </p:cNvSpPr>
          <p:nvPr>
            <p:ph/>
          </p:nvPr>
        </p:nvSpPr>
        <p:spPr>
          <a:xfrm>
            <a:off x="50364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74" name="PlaceHolder 3"/>
          <p:cNvSpPr>
            <a:spLocks noGrp="1"/>
          </p:cNvSpPr>
          <p:nvPr>
            <p:ph/>
          </p:nvPr>
        </p:nvSpPr>
        <p:spPr>
          <a:xfrm>
            <a:off x="357120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75" name="PlaceHolder 4"/>
          <p:cNvSpPr>
            <a:spLocks noGrp="1"/>
          </p:cNvSpPr>
          <p:nvPr>
            <p:ph/>
          </p:nvPr>
        </p:nvSpPr>
        <p:spPr>
          <a:xfrm>
            <a:off x="663876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76" name="PlaceHolder 5"/>
          <p:cNvSpPr>
            <a:spLocks noGrp="1"/>
          </p:cNvSpPr>
          <p:nvPr>
            <p:ph/>
          </p:nvPr>
        </p:nvSpPr>
        <p:spPr>
          <a:xfrm>
            <a:off x="50364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77" name="PlaceHolder 6"/>
          <p:cNvSpPr>
            <a:spLocks noGrp="1"/>
          </p:cNvSpPr>
          <p:nvPr>
            <p:ph/>
          </p:nvPr>
        </p:nvSpPr>
        <p:spPr>
          <a:xfrm>
            <a:off x="357120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78" name="PlaceHolder 7"/>
          <p:cNvSpPr>
            <a:spLocks noGrp="1"/>
          </p:cNvSpPr>
          <p:nvPr>
            <p:ph/>
          </p:nvPr>
        </p:nvSpPr>
        <p:spPr>
          <a:xfrm>
            <a:off x="663876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281DE900-D060-4AA4-8C89-59D240004644}" type="slidenum">
              <a:rPr/>
              <a:pPr/>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1"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82" name="PlaceHolder 2"/>
          <p:cNvSpPr>
            <a:spLocks noGrp="1"/>
          </p:cNvSpPr>
          <p:nvPr>
            <p:ph type="subTitle"/>
          </p:nvPr>
        </p:nvSpPr>
        <p:spPr>
          <a:xfrm>
            <a:off x="503640" y="1326600"/>
            <a:ext cx="9072000" cy="328860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84" name="PlaceHolder 2"/>
          <p:cNvSpPr>
            <a:spLocks noGrp="1"/>
          </p:cNvSpPr>
          <p:nvPr>
            <p:ph/>
          </p:nvPr>
        </p:nvSpPr>
        <p:spPr>
          <a:xfrm>
            <a:off x="503640" y="1326600"/>
            <a:ext cx="907200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86" name="PlaceHolder 2"/>
          <p:cNvSpPr>
            <a:spLocks noGrp="1"/>
          </p:cNvSpPr>
          <p:nvPr>
            <p:ph/>
          </p:nvPr>
        </p:nvSpPr>
        <p:spPr>
          <a:xfrm>
            <a:off x="50364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87" name="PlaceHolder 3"/>
          <p:cNvSpPr>
            <a:spLocks noGrp="1"/>
          </p:cNvSpPr>
          <p:nvPr>
            <p:ph/>
          </p:nvPr>
        </p:nvSpPr>
        <p:spPr>
          <a:xfrm>
            <a:off x="515232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8"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9" name="PlaceHolder 1"/>
          <p:cNvSpPr>
            <a:spLocks noGrp="1"/>
          </p:cNvSpPr>
          <p:nvPr>
            <p:ph type="subTitle"/>
          </p:nvPr>
        </p:nvSpPr>
        <p:spPr>
          <a:xfrm>
            <a:off x="503640" y="226080"/>
            <a:ext cx="9072000" cy="439020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0"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91"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92" name="PlaceHolder 3"/>
          <p:cNvSpPr>
            <a:spLocks noGrp="1"/>
          </p:cNvSpPr>
          <p:nvPr>
            <p:ph/>
          </p:nvPr>
        </p:nvSpPr>
        <p:spPr>
          <a:xfrm>
            <a:off x="515232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93" name="PlaceHolder 4"/>
          <p:cNvSpPr>
            <a:spLocks noGrp="1"/>
          </p:cNvSpPr>
          <p:nvPr>
            <p:ph/>
          </p:nvPr>
        </p:nvSpPr>
        <p:spPr>
          <a:xfrm>
            <a:off x="50364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95" name="PlaceHolder 2"/>
          <p:cNvSpPr>
            <a:spLocks noGrp="1"/>
          </p:cNvSpPr>
          <p:nvPr>
            <p:ph/>
          </p:nvPr>
        </p:nvSpPr>
        <p:spPr>
          <a:xfrm>
            <a:off x="503640" y="1326600"/>
            <a:ext cx="4426920" cy="328860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96"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97" name="PlaceHolder 4"/>
          <p:cNvSpPr>
            <a:spLocks noGrp="1"/>
          </p:cNvSpPr>
          <p:nvPr>
            <p:ph/>
          </p:nvPr>
        </p:nvSpPr>
        <p:spPr>
          <a:xfrm>
            <a:off x="515232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99"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00"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01" name="PlaceHolder 4"/>
          <p:cNvSpPr>
            <a:spLocks noGrp="1"/>
          </p:cNvSpPr>
          <p:nvPr>
            <p:ph/>
          </p:nvPr>
        </p:nvSpPr>
        <p:spPr>
          <a:xfrm>
            <a:off x="503640" y="304452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103" name="PlaceHolder 2"/>
          <p:cNvSpPr>
            <a:spLocks noGrp="1"/>
          </p:cNvSpPr>
          <p:nvPr>
            <p:ph/>
          </p:nvPr>
        </p:nvSpPr>
        <p:spPr>
          <a:xfrm>
            <a:off x="503640" y="132660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04" name="PlaceHolder 3"/>
          <p:cNvSpPr>
            <a:spLocks noGrp="1"/>
          </p:cNvSpPr>
          <p:nvPr>
            <p:ph/>
          </p:nvPr>
        </p:nvSpPr>
        <p:spPr>
          <a:xfrm>
            <a:off x="503640" y="3044520"/>
            <a:ext cx="907200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106" name="PlaceHolder 2"/>
          <p:cNvSpPr>
            <a:spLocks noGrp="1"/>
          </p:cNvSpPr>
          <p:nvPr>
            <p:ph/>
          </p:nvPr>
        </p:nvSpPr>
        <p:spPr>
          <a:xfrm>
            <a:off x="50364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07" name="PlaceHolder 3"/>
          <p:cNvSpPr>
            <a:spLocks noGrp="1"/>
          </p:cNvSpPr>
          <p:nvPr>
            <p:ph/>
          </p:nvPr>
        </p:nvSpPr>
        <p:spPr>
          <a:xfrm>
            <a:off x="5152320" y="132660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08" name="PlaceHolder 4"/>
          <p:cNvSpPr>
            <a:spLocks noGrp="1"/>
          </p:cNvSpPr>
          <p:nvPr>
            <p:ph/>
          </p:nvPr>
        </p:nvSpPr>
        <p:spPr>
          <a:xfrm>
            <a:off x="50364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09" name="PlaceHolder 5"/>
          <p:cNvSpPr>
            <a:spLocks noGrp="1"/>
          </p:cNvSpPr>
          <p:nvPr>
            <p:ph/>
          </p:nvPr>
        </p:nvSpPr>
        <p:spPr>
          <a:xfrm>
            <a:off x="5152320" y="3044520"/>
            <a:ext cx="442692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503640" y="226080"/>
            <a:ext cx="9072000" cy="946800"/>
          </a:xfrm>
          <a:prstGeom prst="rect">
            <a:avLst/>
          </a:prstGeom>
          <a:noFill/>
          <a:ln w="0">
            <a:noFill/>
          </a:ln>
        </p:spPr>
        <p:txBody>
          <a:bodyPr lIns="0" tIns="0" rIns="0" bIns="0" anchor="ctr">
            <a:noAutofit/>
          </a:bodyPr>
          <a:lstStyle/>
          <a:p>
            <a:pPr indent="0" algn="ctr">
              <a:buNone/>
            </a:pPr>
            <a:endParaRPr lang="en-IN" sz="950" b="0" strike="noStrike" spc="-1">
              <a:solidFill>
                <a:srgbClr val="000000"/>
              </a:solidFill>
              <a:latin typeface="Calibri"/>
            </a:endParaRPr>
          </a:p>
        </p:txBody>
      </p:sp>
      <p:sp>
        <p:nvSpPr>
          <p:cNvPr id="111" name="PlaceHolder 2"/>
          <p:cNvSpPr>
            <a:spLocks noGrp="1"/>
          </p:cNvSpPr>
          <p:nvPr>
            <p:ph/>
          </p:nvPr>
        </p:nvSpPr>
        <p:spPr>
          <a:xfrm>
            <a:off x="50364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12" name="PlaceHolder 3"/>
          <p:cNvSpPr>
            <a:spLocks noGrp="1"/>
          </p:cNvSpPr>
          <p:nvPr>
            <p:ph/>
          </p:nvPr>
        </p:nvSpPr>
        <p:spPr>
          <a:xfrm>
            <a:off x="357120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13" name="PlaceHolder 4"/>
          <p:cNvSpPr>
            <a:spLocks noGrp="1"/>
          </p:cNvSpPr>
          <p:nvPr>
            <p:ph/>
          </p:nvPr>
        </p:nvSpPr>
        <p:spPr>
          <a:xfrm>
            <a:off x="6638760" y="132660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14" name="PlaceHolder 5"/>
          <p:cNvSpPr>
            <a:spLocks noGrp="1"/>
          </p:cNvSpPr>
          <p:nvPr>
            <p:ph/>
          </p:nvPr>
        </p:nvSpPr>
        <p:spPr>
          <a:xfrm>
            <a:off x="50364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15" name="PlaceHolder 6"/>
          <p:cNvSpPr>
            <a:spLocks noGrp="1"/>
          </p:cNvSpPr>
          <p:nvPr>
            <p:ph/>
          </p:nvPr>
        </p:nvSpPr>
        <p:spPr>
          <a:xfrm>
            <a:off x="357120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
        <p:nvSpPr>
          <p:cNvPr id="116" name="PlaceHolder 7"/>
          <p:cNvSpPr>
            <a:spLocks noGrp="1"/>
          </p:cNvSpPr>
          <p:nvPr>
            <p:ph/>
          </p:nvPr>
        </p:nvSpPr>
        <p:spPr>
          <a:xfrm>
            <a:off x="6638760" y="3044520"/>
            <a:ext cx="2921040" cy="1568520"/>
          </a:xfrm>
          <a:prstGeom prst="rect">
            <a:avLst/>
          </a:prstGeom>
          <a:noFill/>
          <a:ln w="0">
            <a:noFill/>
          </a:ln>
        </p:spPr>
        <p:txBody>
          <a:bodyPr lIns="0" tIns="0" rIns="0" bIns="0" anchor="t">
            <a:normAutofit/>
          </a:bodyPr>
          <a:lstStyle/>
          <a:p>
            <a:pPr indent="0">
              <a:spcBef>
                <a:spcPts val="748"/>
              </a:spcBef>
              <a:buNone/>
            </a:pPr>
            <a:endParaRPr lang="en-IN" sz="95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226080"/>
            <a:ext cx="9071640" cy="946080"/>
          </a:xfrm>
          <a:prstGeom prst="rect">
            <a:avLst/>
          </a:prstGeom>
          <a:noFill/>
          <a:ln w="0">
            <a:noFill/>
          </a:ln>
        </p:spPr>
        <p:txBody>
          <a:bodyPr lIns="0" tIns="0" rIns="0" bIns="0" anchor="ctr">
            <a:noAutofit/>
          </a:bodyPr>
          <a:lstStyle/>
          <a:p>
            <a:pPr indent="0">
              <a:buNone/>
            </a:pPr>
            <a:r>
              <a:rPr lang="en-IN" sz="1800" b="0" strike="noStrike" spc="-1">
                <a:solidFill>
                  <a:srgbClr val="000000"/>
                </a:solidFill>
                <a:latin typeface="Arial"/>
              </a:rPr>
              <a:t>Click to edit the title text format</a:t>
            </a:r>
          </a:p>
        </p:txBody>
      </p:sp>
      <p:sp>
        <p:nvSpPr>
          <p:cNvPr id="3" name="PlaceHolder 2"/>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 name="PlaceHolder 1"/>
          <p:cNvSpPr>
            <a:spLocks noGrp="1"/>
          </p:cNvSpPr>
          <p:nvPr>
            <p:ph type="ftr" idx="1"/>
          </p:nvPr>
        </p:nvSpPr>
        <p:spPr>
          <a:xfrm>
            <a:off x="3447360" y="5165280"/>
            <a:ext cx="3193920" cy="389520"/>
          </a:xfrm>
          <a:prstGeom prst="rect">
            <a:avLst/>
          </a:prstGeom>
          <a:noFill/>
          <a:ln w="0">
            <a:noFill/>
          </a:ln>
        </p:spPr>
        <p:txBody>
          <a:bodyPr lIns="0" tIns="0" rIns="0" bIns="0" anchor="t">
            <a:noAutofit/>
          </a:bodyPr>
          <a:lstStyle>
            <a:lvl1pPr indent="0" algn="ctr">
              <a:lnSpc>
                <a:spcPct val="100000"/>
              </a:lnSpc>
              <a:buNone/>
              <a:tabLst>
                <a:tab pos="0" algn="l"/>
              </a:tabLst>
              <a:defRPr lang="en-IN" sz="1400" b="0" strike="noStrike" spc="-1">
                <a:solidFill>
                  <a:srgbClr val="000000"/>
                </a:solidFill>
                <a:latin typeface="Times New Roman"/>
              </a:defRPr>
            </a:lvl1pPr>
          </a:lstStyle>
          <a:p>
            <a:pPr indent="0" algn="ctr">
              <a:lnSpc>
                <a:spcPct val="100000"/>
              </a:lnSpc>
              <a:buNone/>
              <a:tabLst>
                <a:tab pos="0" algn="l"/>
              </a:tabLst>
            </a:pPr>
            <a:r>
              <a:rPr lang="en-IN" sz="1400" b="0" strike="noStrike" spc="-1">
                <a:solidFill>
                  <a:srgbClr val="000000"/>
                </a:solidFill>
                <a:latin typeface="Times New Roman"/>
              </a:rPr>
              <a:t>&lt;footer&gt;</a:t>
            </a:r>
          </a:p>
        </p:txBody>
      </p:sp>
      <p:sp>
        <p:nvSpPr>
          <p:cNvPr id="39" name="PlaceHolder 2"/>
          <p:cNvSpPr>
            <a:spLocks noGrp="1"/>
          </p:cNvSpPr>
          <p:nvPr>
            <p:ph type="sldNum" idx="2"/>
          </p:nvPr>
        </p:nvSpPr>
        <p:spPr>
          <a:xfrm>
            <a:off x="7227360" y="5165280"/>
            <a:ext cx="2347200" cy="389520"/>
          </a:xfrm>
          <a:prstGeom prst="rect">
            <a:avLst/>
          </a:prstGeom>
          <a:noFill/>
          <a:ln w="0">
            <a:noFill/>
          </a:ln>
        </p:spPr>
        <p:txBody>
          <a:bodyPr lIns="0" tIns="0" rIns="0" bIns="0" anchor="t">
            <a:noAutofit/>
          </a:bodyPr>
          <a:lstStyle>
            <a:lvl1pPr indent="0" algn="r">
              <a:lnSpc>
                <a:spcPct val="100000"/>
              </a:lnSpc>
              <a:buNone/>
              <a:tabLst>
                <a:tab pos="0" algn="l"/>
              </a:tabLst>
              <a:defRPr lang="en-IN" sz="1400" b="0" strike="noStrike" spc="-1">
                <a:solidFill>
                  <a:srgbClr val="000000"/>
                </a:solidFill>
                <a:latin typeface="Times New Roman"/>
              </a:defRPr>
            </a:lvl1pPr>
          </a:lstStyle>
          <a:p>
            <a:pPr indent="0" algn="r">
              <a:lnSpc>
                <a:spcPct val="100000"/>
              </a:lnSpc>
              <a:buNone/>
              <a:tabLst>
                <a:tab pos="0" algn="l"/>
              </a:tabLst>
            </a:pPr>
            <a:fld id="{A8048C1A-2F8E-490E-BA68-AFC7BD3B4659}" type="slidenum">
              <a:rPr lang="en-IN" sz="1400" b="0" strike="noStrike" spc="-1">
                <a:solidFill>
                  <a:srgbClr val="000000"/>
                </a:solidFill>
                <a:latin typeface="Times New Roman"/>
              </a:rPr>
              <a:pPr indent="0" algn="r">
                <a:lnSpc>
                  <a:spcPct val="100000"/>
                </a:lnSpc>
                <a:buNone/>
                <a:tabLst>
                  <a:tab pos="0" algn="l"/>
                </a:tabLst>
              </a:pPr>
              <a:t>‹#›</a:t>
            </a:fld>
            <a:endParaRPr lang="en-IN" sz="1400" b="0" strike="noStrike" spc="-1">
              <a:solidFill>
                <a:srgbClr val="000000"/>
              </a:solidFill>
              <a:latin typeface="Times New Roman"/>
            </a:endParaRPr>
          </a:p>
        </p:txBody>
      </p:sp>
      <p:sp>
        <p:nvSpPr>
          <p:cNvPr id="40" name="PlaceHolder 3"/>
          <p:cNvSpPr>
            <a:spLocks noGrp="1"/>
          </p:cNvSpPr>
          <p:nvPr>
            <p:ph type="dt" idx="3"/>
          </p:nvPr>
        </p:nvSpPr>
        <p:spPr>
          <a:xfrm>
            <a:off x="504000" y="5165280"/>
            <a:ext cx="2347200" cy="389520"/>
          </a:xfrm>
          <a:prstGeom prst="rect">
            <a:avLst/>
          </a:prstGeom>
          <a:noFill/>
          <a:ln w="0">
            <a:noFill/>
          </a:ln>
        </p:spPr>
        <p:txBody>
          <a:bodyPr lIns="0" tIns="0" rIns="0" bIns="0" anchor="t">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
        <p:nvSpPr>
          <p:cNvPr id="41" name="PlaceHolder 4"/>
          <p:cNvSpPr>
            <a:spLocks noGrp="1"/>
          </p:cNvSpPr>
          <p:nvPr>
            <p:ph type="title"/>
          </p:nvPr>
        </p:nvSpPr>
        <p:spPr>
          <a:xfrm>
            <a:off x="504000" y="226080"/>
            <a:ext cx="9072000" cy="94644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42"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9"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80" name="PlaceHolder 2"/>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64E14A40-CD6A-62EE-86C8-991B54F95172}"/>
              </a:ext>
            </a:extLst>
          </p:cNvPr>
          <p:cNvSpPr txBox="1"/>
          <p:nvPr/>
        </p:nvSpPr>
        <p:spPr>
          <a:xfrm>
            <a:off x="814707" y="2172855"/>
            <a:ext cx="8458200" cy="1248675"/>
          </a:xfrm>
          <a:prstGeom prst="rect">
            <a:avLst/>
          </a:prstGeom>
          <a:noFill/>
        </p:spPr>
        <p:txBody>
          <a:bodyPr wrap="square">
            <a:spAutoFit/>
          </a:bodyPr>
          <a:lstStyle/>
          <a:p>
            <a:pPr algn="ctr">
              <a:lnSpc>
                <a:spcPct val="107000"/>
              </a:lnSpc>
              <a:spcAft>
                <a:spcPts val="800"/>
              </a:spcAft>
            </a:pPr>
            <a:r>
              <a:rPr lang="en-IN" sz="3600" b="1" dirty="0" smtClean="0">
                <a:latin typeface="Times New Roman"/>
                <a:ea typeface="Calibri"/>
                <a:cs typeface="Times New Roman"/>
              </a:rPr>
              <a:t>A Novel Approach to Predict Blood Group using Fingerprint Map Reading</a:t>
            </a:r>
            <a:endParaRPr lang="en-US" sz="2000" dirty="0">
              <a:latin typeface="Calibri"/>
              <a:ea typeface="Calibri"/>
              <a:cs typeface="Times New Roman"/>
            </a:endParaRPr>
          </a:p>
        </p:txBody>
      </p:sp>
    </p:spTree>
    <p:extLst>
      <p:ext uri="{BB962C8B-B14F-4D97-AF65-F5344CB8AC3E}">
        <p14:creationId xmlns="" xmlns:p14="http://schemas.microsoft.com/office/powerpoint/2010/main" val="757776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CustomShape 4"/>
          <p:cNvSpPr/>
          <p:nvPr/>
        </p:nvSpPr>
        <p:spPr>
          <a:xfrm>
            <a:off x="0" y="136138"/>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0" strike="noStrike" spc="-1" dirty="0">
                <a:solidFill>
                  <a:srgbClr val="000000"/>
                </a:solidFill>
                <a:latin typeface="Times New Roman" panose="02020603050405020304" pitchFamily="18" charset="0"/>
                <a:ea typeface="DejaVu Sans"/>
                <a:cs typeface="Times New Roman" panose="02020603050405020304" pitchFamily="18" charset="0"/>
              </a:rPr>
              <a:t>Abstract</a:t>
            </a:r>
            <a:endParaRPr lang="en-IN" sz="28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 xmlns:a16="http://schemas.microsoft.com/office/drawing/2014/main" id="{84D1E9ED-49DA-4226-F38F-5F6CDD7DEDE1}"/>
              </a:ext>
            </a:extLst>
          </p:cNvPr>
          <p:cNvSpPr>
            <a:spLocks noChangeArrowheads="1"/>
          </p:cNvSpPr>
          <p:nvPr/>
        </p:nvSpPr>
        <p:spPr bwMode="auto">
          <a:xfrm>
            <a:off x="693599" y="977838"/>
            <a:ext cx="8693426" cy="373627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IN" sz="2000" dirty="0" smtClean="0">
                <a:latin typeface="Times New Roman"/>
                <a:ea typeface="Calibri"/>
              </a:rPr>
              <a:t>This study presents a novel machine learning-based approach to predict an individual's blood group using fingerprint image analysis. The system utilizes thermal spectroscopic </a:t>
            </a:r>
            <a:r>
              <a:rPr lang="en-IN" sz="2000" dirty="0" err="1" smtClean="0">
                <a:latin typeface="Times New Roman"/>
                <a:ea typeface="Calibri"/>
              </a:rPr>
              <a:t>photoplethysmographic</a:t>
            </a:r>
            <a:r>
              <a:rPr lang="en-IN" sz="2000" dirty="0" smtClean="0">
                <a:latin typeface="Times New Roman"/>
                <a:ea typeface="Calibri"/>
              </a:rPr>
              <a:t> (PPG) sensor images to capture fingerprint patterns. These images are processed to extract Gabor features, which serve as input signals for machine learning models. The extracted data is used to train a </a:t>
            </a:r>
            <a:r>
              <a:rPr lang="en-IN" sz="2000" dirty="0" err="1" smtClean="0">
                <a:latin typeface="Times New Roman"/>
                <a:ea typeface="Calibri"/>
              </a:rPr>
              <a:t>convolutional</a:t>
            </a:r>
            <a:r>
              <a:rPr lang="en-IN" sz="2000" dirty="0" smtClean="0">
                <a:latin typeface="Times New Roman"/>
                <a:ea typeface="Calibri"/>
              </a:rPr>
              <a:t> neural network (CNN), achieving high performance with an accuracy of 97% on the test dataset. The trained model is capable of classifying various blood groups, including A+, A−, B+, B−, AB+, AB−, O+, and O−. </a:t>
            </a:r>
            <a:endParaRPr lang="en-US" sz="1600" dirty="0">
              <a:latin typeface="Calibri"/>
              <a:ea typeface="Calibri"/>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9247" y="363070"/>
            <a:ext cx="2232212" cy="523220"/>
          </a:xfrm>
          <a:prstGeom prst="rect">
            <a:avLst/>
          </a:prstGeom>
          <a:noFill/>
        </p:spPr>
        <p:txBody>
          <a:bodyPr wrap="square" rtlCol="0">
            <a:spAutoFit/>
          </a:bodyPr>
          <a:lstStyle/>
          <a:p>
            <a:r>
              <a:rPr lang="en-IN" sz="2800" b="1" dirty="0" smtClean="0">
                <a:latin typeface="Times New Roman" pitchFamily="18" charset="0"/>
                <a:cs typeface="Times New Roman" pitchFamily="18" charset="0"/>
              </a:rPr>
              <a:t>Introduction</a:t>
            </a:r>
            <a:endParaRPr lang="en-US" sz="2800" b="1" dirty="0">
              <a:latin typeface="Times New Roman" pitchFamily="18" charset="0"/>
              <a:cs typeface="Times New Roman" pitchFamily="18" charset="0"/>
            </a:endParaRPr>
          </a:p>
        </p:txBody>
      </p:sp>
      <p:sp>
        <p:nvSpPr>
          <p:cNvPr id="3" name="TextBox 2"/>
          <p:cNvSpPr txBox="1"/>
          <p:nvPr/>
        </p:nvSpPr>
        <p:spPr>
          <a:xfrm>
            <a:off x="739588" y="726144"/>
            <a:ext cx="8915400" cy="4765407"/>
          </a:xfrm>
          <a:prstGeom prst="rect">
            <a:avLst/>
          </a:prstGeom>
          <a:noFill/>
        </p:spPr>
        <p:txBody>
          <a:bodyPr wrap="square" rtlCol="0">
            <a:spAutoFit/>
          </a:bodyPr>
          <a:lstStyle/>
          <a:p>
            <a:pPr algn="just">
              <a:lnSpc>
                <a:spcPct val="150000"/>
              </a:lnSpc>
              <a:spcAft>
                <a:spcPts val="800"/>
              </a:spcAft>
            </a:pPr>
            <a:r>
              <a:rPr lang="en-US" dirty="0" smtClean="0">
                <a:latin typeface="Times New Roman"/>
                <a:ea typeface="Calibri"/>
                <a:cs typeface="Times New Roman"/>
              </a:rPr>
              <a:t>Blood group identification is a vital component in the fields of healthcare, forensic science, and genetics. Traditional blood typing methods rely on serological tests that require blood samples, reagents, and time-consuming laboratory procedures. However, in emergency scenarios or remote areas where laboratory resources are limited, a fast, non-invasive, and automated method for predicting an individual's blood group could significantly enhance medical response and diagnostic capabilities.</a:t>
            </a:r>
            <a:endParaRPr lang="en-US" sz="1400" dirty="0" smtClean="0">
              <a:latin typeface="Calibri"/>
              <a:ea typeface="Calibri"/>
              <a:cs typeface="Times New Roman"/>
            </a:endParaRPr>
          </a:p>
          <a:p>
            <a:pPr algn="just">
              <a:lnSpc>
                <a:spcPct val="150000"/>
              </a:lnSpc>
              <a:spcAft>
                <a:spcPts val="800"/>
              </a:spcAft>
            </a:pPr>
            <a:r>
              <a:rPr lang="en-US" dirty="0" smtClean="0">
                <a:latin typeface="Times New Roman"/>
                <a:ea typeface="Calibri"/>
                <a:cs typeface="Times New Roman"/>
              </a:rPr>
              <a:t>In this project, we propose a novel, contactless approach for predicting blood groups using </a:t>
            </a:r>
            <a:r>
              <a:rPr lang="en-US" b="1" dirty="0" smtClean="0">
                <a:latin typeface="Times New Roman"/>
                <a:ea typeface="Calibri"/>
                <a:cs typeface="Times New Roman"/>
              </a:rPr>
              <a:t>fingerprint map reading</a:t>
            </a:r>
            <a:r>
              <a:rPr lang="en-US" dirty="0" smtClean="0">
                <a:latin typeface="Times New Roman"/>
                <a:ea typeface="Calibri"/>
                <a:cs typeface="Times New Roman"/>
              </a:rPr>
              <a:t> combined with </a:t>
            </a:r>
            <a:r>
              <a:rPr lang="en-US" b="1" dirty="0" smtClean="0">
                <a:latin typeface="Times New Roman"/>
                <a:ea typeface="Calibri"/>
                <a:cs typeface="Times New Roman"/>
              </a:rPr>
              <a:t>Thermal Spectroscopic </a:t>
            </a:r>
            <a:r>
              <a:rPr lang="en-US" b="1" dirty="0" err="1" smtClean="0">
                <a:latin typeface="Times New Roman"/>
                <a:ea typeface="Calibri"/>
                <a:cs typeface="Times New Roman"/>
              </a:rPr>
              <a:t>Photoplethysmographic</a:t>
            </a:r>
            <a:r>
              <a:rPr lang="en-US" b="1" dirty="0" smtClean="0">
                <a:latin typeface="Times New Roman"/>
                <a:ea typeface="Calibri"/>
                <a:cs typeface="Times New Roman"/>
              </a:rPr>
              <a:t> (PPG) sensors</a:t>
            </a:r>
            <a:r>
              <a:rPr lang="en-US" dirty="0" smtClean="0">
                <a:latin typeface="Times New Roman"/>
                <a:ea typeface="Calibri"/>
                <a:cs typeface="Times New Roman"/>
              </a:rPr>
              <a:t>. These thermal fingerprint images are processed to extract </a:t>
            </a:r>
            <a:r>
              <a:rPr lang="en-US" b="1" dirty="0" smtClean="0">
                <a:latin typeface="Times New Roman"/>
                <a:ea typeface="Calibri"/>
                <a:cs typeface="Times New Roman"/>
              </a:rPr>
              <a:t>Gabor filter-based signal features</a:t>
            </a:r>
            <a:r>
              <a:rPr lang="en-US" dirty="0" smtClean="0">
                <a:latin typeface="Times New Roman"/>
                <a:ea typeface="Calibri"/>
                <a:cs typeface="Times New Roman"/>
              </a:rPr>
              <a:t>, which serve as input to a </a:t>
            </a:r>
            <a:r>
              <a:rPr lang="en-US" b="1" dirty="0" smtClean="0">
                <a:latin typeface="Times New Roman"/>
                <a:ea typeface="Calibri"/>
                <a:cs typeface="Times New Roman"/>
              </a:rPr>
              <a:t>machine learning (ML) model</a:t>
            </a:r>
            <a:r>
              <a:rPr lang="en-US" dirty="0" smtClean="0">
                <a:latin typeface="Times New Roman"/>
                <a:ea typeface="Calibri"/>
                <a:cs typeface="Times New Roman"/>
              </a:rPr>
              <a:t> trained to classify blood group types.</a:t>
            </a:r>
            <a:endParaRPr lang="en-US" sz="1400" dirty="0">
              <a:latin typeface="Calibri"/>
              <a:ea typeface="Calibri"/>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05E9B21A-5B79-61A6-578E-106D7DAE09B3}"/>
              </a:ext>
            </a:extLst>
          </p:cNvPr>
          <p:cNvSpPr txBox="1"/>
          <p:nvPr/>
        </p:nvSpPr>
        <p:spPr>
          <a:xfrm>
            <a:off x="3348202" y="268592"/>
            <a:ext cx="5041024"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L</a:t>
            </a:r>
            <a:r>
              <a:rPr lang="en-IN" sz="3200" b="1" dirty="0" smtClean="0">
                <a:latin typeface="Times New Roman" panose="02020603050405020304" pitchFamily="18" charset="0"/>
                <a:cs typeface="Times New Roman" panose="02020603050405020304" pitchFamily="18" charset="0"/>
              </a:rPr>
              <a:t>iterature </a:t>
            </a:r>
            <a:r>
              <a:rPr lang="en-IN" sz="3200" b="1" dirty="0" err="1">
                <a:latin typeface="Times New Roman" panose="02020603050405020304" pitchFamily="18" charset="0"/>
                <a:cs typeface="Times New Roman" panose="02020603050405020304" pitchFamily="18" charset="0"/>
              </a:rPr>
              <a:t>servvey</a:t>
            </a:r>
            <a:endParaRPr lang="en-IN" sz="3200" b="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 xmlns:a16="http://schemas.microsoft.com/office/drawing/2014/main" id="{D18DEC5B-FB3C-411B-D205-4B4F9E28AD19}"/>
              </a:ext>
            </a:extLst>
          </p:cNvPr>
          <p:cNvSpPr>
            <a:spLocks noChangeArrowheads="1"/>
          </p:cNvSpPr>
          <p:nvPr/>
        </p:nvSpPr>
        <p:spPr bwMode="auto">
          <a:xfrm>
            <a:off x="803513" y="837030"/>
            <a:ext cx="8811134" cy="424731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nSpc>
                <a:spcPct val="150000"/>
              </a:lnSpc>
              <a:spcAft>
                <a:spcPts val="0"/>
              </a:spcAft>
              <a:buFont typeface="+mj-lt"/>
              <a:buAutoNum type="arabicPeriod"/>
              <a:tabLst>
                <a:tab pos="457200" algn="l"/>
              </a:tabLst>
            </a:pPr>
            <a:r>
              <a:rPr lang="en-US" b="1" dirty="0" smtClean="0">
                <a:latin typeface="Times New Roman"/>
                <a:ea typeface="Times New Roman"/>
                <a:cs typeface="Times New Roman"/>
              </a:rPr>
              <a:t>Biometric Correlation with Physiological Traits</a:t>
            </a:r>
            <a:r>
              <a:rPr lang="en-US" dirty="0" smtClean="0">
                <a:latin typeface="Times New Roman"/>
                <a:ea typeface="Times New Roman"/>
                <a:cs typeface="Times New Roman"/>
              </a:rPr>
              <a:t/>
            </a:r>
            <a:br>
              <a:rPr lang="en-US" dirty="0" smtClean="0">
                <a:latin typeface="Times New Roman"/>
                <a:ea typeface="Times New Roman"/>
                <a:cs typeface="Times New Roman"/>
              </a:rPr>
            </a:br>
            <a:r>
              <a:rPr lang="en-US" dirty="0" smtClean="0">
                <a:latin typeface="Times New Roman"/>
                <a:ea typeface="Times New Roman"/>
                <a:cs typeface="Times New Roman"/>
              </a:rPr>
              <a:t>Previous studies have explored correlations between biometric traits such as fingerprints and physiological attributes (e.g., gender, age, and blood group). For example, research has shown patterns in </a:t>
            </a:r>
            <a:r>
              <a:rPr lang="en-US" dirty="0" err="1" smtClean="0">
                <a:latin typeface="Times New Roman"/>
                <a:ea typeface="Times New Roman"/>
                <a:cs typeface="Times New Roman"/>
              </a:rPr>
              <a:t>dermatoglyphics</a:t>
            </a:r>
            <a:r>
              <a:rPr lang="en-US" dirty="0" smtClean="0">
                <a:latin typeface="Times New Roman"/>
                <a:ea typeface="Times New Roman"/>
                <a:cs typeface="Times New Roman"/>
              </a:rPr>
              <a:t> (ridge patterns in fingerprints) can vary across different blood groups, suggesting predictive potential.</a:t>
            </a:r>
            <a:endParaRPr lang="en-US" sz="1600" dirty="0" smtClean="0">
              <a:latin typeface="Calibri"/>
              <a:ea typeface="Calibri"/>
              <a:cs typeface="Times New Roman"/>
            </a:endParaRPr>
          </a:p>
          <a:p>
            <a:pPr marL="342900" lvl="0" indent="-342900">
              <a:lnSpc>
                <a:spcPct val="150000"/>
              </a:lnSpc>
              <a:spcAft>
                <a:spcPts val="800"/>
              </a:spcAft>
              <a:buFont typeface="+mj-lt"/>
              <a:buAutoNum type="arabicPeriod"/>
              <a:tabLst>
                <a:tab pos="457200" algn="l"/>
              </a:tabLst>
            </a:pPr>
            <a:r>
              <a:rPr lang="en-US" b="1" dirty="0" smtClean="0">
                <a:latin typeface="Times New Roman"/>
                <a:ea typeface="Times New Roman"/>
                <a:cs typeface="Times New Roman"/>
              </a:rPr>
              <a:t>Use of Gabor Filters in Image Processing</a:t>
            </a:r>
            <a:r>
              <a:rPr lang="en-US" dirty="0" smtClean="0">
                <a:latin typeface="Times New Roman"/>
                <a:ea typeface="Times New Roman"/>
                <a:cs typeface="Times New Roman"/>
              </a:rPr>
              <a:t/>
            </a:r>
            <a:br>
              <a:rPr lang="en-US" dirty="0" smtClean="0">
                <a:latin typeface="Times New Roman"/>
                <a:ea typeface="Times New Roman"/>
                <a:cs typeface="Times New Roman"/>
              </a:rPr>
            </a:br>
            <a:r>
              <a:rPr lang="en-US" dirty="0" smtClean="0">
                <a:latin typeface="Times New Roman"/>
                <a:ea typeface="Times New Roman"/>
                <a:cs typeface="Times New Roman"/>
              </a:rPr>
              <a:t>Gabor filters are widely used in feature extraction for biometric images due to their ability to capture spatial frequency and orientation information. These filters are particularly effective in analyzing texture patterns in fingerprint images, which enhances the discriminatory power for classification tasks.</a:t>
            </a:r>
            <a:endParaRPr lang="en-US" sz="1600" dirty="0">
              <a:latin typeface="Calibri"/>
              <a:ea typeface="Calibri"/>
              <a:cs typeface="Times New Roman"/>
            </a:endParaRPr>
          </a:p>
        </p:txBody>
      </p:sp>
    </p:spTree>
    <p:extLst>
      <p:ext uri="{BB962C8B-B14F-4D97-AF65-F5344CB8AC3E}">
        <p14:creationId xmlns="" xmlns:p14="http://schemas.microsoft.com/office/powerpoint/2010/main" val="2342907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CustomShape 6"/>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0" strike="noStrike" spc="-1" dirty="0">
                <a:solidFill>
                  <a:srgbClr val="000000"/>
                </a:solidFill>
                <a:latin typeface="Times New Roman" panose="02020603050405020304" pitchFamily="18" charset="0"/>
                <a:ea typeface="DejaVu Sans"/>
                <a:cs typeface="Times New Roman" panose="02020603050405020304" pitchFamily="18" charset="0"/>
              </a:rPr>
              <a:t>Existing System</a:t>
            </a:r>
            <a:endParaRPr lang="en-IN" sz="28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 xmlns:a16="http://schemas.microsoft.com/office/drawing/2014/main" id="{4ACAFAE0-BF8D-F884-8035-FD9DB2A6B27A}"/>
              </a:ext>
            </a:extLst>
          </p:cNvPr>
          <p:cNvSpPr>
            <a:spLocks noChangeArrowheads="1"/>
          </p:cNvSpPr>
          <p:nvPr/>
        </p:nvSpPr>
        <p:spPr bwMode="auto">
          <a:xfrm>
            <a:off x="730235" y="1204556"/>
            <a:ext cx="8817178" cy="378738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IN" dirty="0" smtClean="0">
                <a:latin typeface="Times New Roman"/>
                <a:ea typeface="Calibri"/>
                <a:cs typeface="Times New Roman"/>
              </a:rPr>
              <a:t>In the current healthcare and biometric systems, blood group identification typically relies on conventional laboratory-based tests such as blood sample analysis through serological methods. These tests require physical collection of blood, trained personnel, and laboratory infrastructure, which can be time-consuming, invasive, and sometimes inaccessible in remote or emergency scenarios. Moreover, there is no existing system that attempts to non-invasively predict a person’s blood group solely from biometric data such as fingerprints. While fingerprint biometrics have been widely used for identification and authentication purposes, their potential in medical diagnostics—especially in blood group prediction—has remained largely unexplored. </a:t>
            </a:r>
            <a:endParaRPr lang="en-US" sz="1400" dirty="0">
              <a:latin typeface="Calibri"/>
              <a:ea typeface="Calibri"/>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CustomShape 8"/>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4400" b="0" strike="noStrike" spc="-1">
                <a:solidFill>
                  <a:srgbClr val="000000"/>
                </a:solidFill>
                <a:latin typeface="Calibri"/>
                <a:ea typeface="DejaVu Sans"/>
              </a:rPr>
              <a:t>Drawbacks</a:t>
            </a:r>
            <a:endParaRPr lang="en-IN" sz="4400" b="0" strike="noStrike" spc="-1">
              <a:solidFill>
                <a:srgbClr val="000000"/>
              </a:solidFill>
              <a:latin typeface="Arial"/>
            </a:endParaRPr>
          </a:p>
        </p:txBody>
      </p:sp>
      <p:sp>
        <p:nvSpPr>
          <p:cNvPr id="2" name="Rectangle 1">
            <a:extLst>
              <a:ext uri="{FF2B5EF4-FFF2-40B4-BE49-F238E27FC236}">
                <a16:creationId xmlns="" xmlns:a16="http://schemas.microsoft.com/office/drawing/2014/main" id="{4D5A3512-BCC8-A273-6B07-740E9E78CA20}"/>
              </a:ext>
            </a:extLst>
          </p:cNvPr>
          <p:cNvSpPr>
            <a:spLocks noChangeArrowheads="1"/>
          </p:cNvSpPr>
          <p:nvPr/>
        </p:nvSpPr>
        <p:spPr bwMode="auto">
          <a:xfrm>
            <a:off x="952793" y="991284"/>
            <a:ext cx="8163339" cy="38882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spcAft>
                <a:spcPts val="800"/>
              </a:spcAft>
            </a:pPr>
            <a:r>
              <a:rPr lang="en-US" sz="2000" dirty="0" smtClean="0">
                <a:latin typeface="Symbol"/>
                <a:ea typeface="Times New Roman"/>
                <a:cs typeface="Times New Roman"/>
              </a:rPr>
              <a:t>·</a:t>
            </a:r>
            <a:r>
              <a:rPr lang="en-US" sz="2000" dirty="0" smtClean="0">
                <a:latin typeface="Times New Roman"/>
                <a:ea typeface="Times New Roman"/>
                <a:cs typeface="Times New Roman"/>
              </a:rPr>
              <a:t>  </a:t>
            </a:r>
            <a:r>
              <a:rPr lang="en-US" sz="2000" b="1" dirty="0" smtClean="0">
                <a:latin typeface="Times New Roman"/>
                <a:ea typeface="Times New Roman"/>
                <a:cs typeface="Times New Roman"/>
              </a:rPr>
              <a:t>Invasive Blood Testing</a:t>
            </a:r>
            <a:r>
              <a:rPr lang="en-US" sz="2000" dirty="0" smtClean="0">
                <a:latin typeface="Times New Roman"/>
                <a:ea typeface="Times New Roman"/>
                <a:cs typeface="Times New Roman"/>
              </a:rPr>
              <a:t/>
            </a:r>
            <a:br>
              <a:rPr lang="en-US" sz="2000" dirty="0" smtClean="0">
                <a:latin typeface="Times New Roman"/>
                <a:ea typeface="Times New Roman"/>
                <a:cs typeface="Times New Roman"/>
              </a:rPr>
            </a:br>
            <a:r>
              <a:rPr lang="en-US" sz="2000" dirty="0" smtClean="0">
                <a:latin typeface="Times New Roman"/>
                <a:ea typeface="Times New Roman"/>
                <a:cs typeface="Times New Roman"/>
              </a:rPr>
              <a:t>Traditional blood group identification methods require invasive procedures like drawing blood, which may be uncomfortable, painful, or risky for certain individuals (e.g., infants, elderly, or those with needle phobia).</a:t>
            </a:r>
            <a:endParaRPr lang="en-US" sz="1600" dirty="0" smtClean="0">
              <a:latin typeface="Calibri"/>
              <a:ea typeface="Calibri"/>
              <a:cs typeface="Times New Roman"/>
            </a:endParaRPr>
          </a:p>
          <a:p>
            <a:pPr>
              <a:lnSpc>
                <a:spcPct val="150000"/>
              </a:lnSpc>
              <a:spcAft>
                <a:spcPts val="800"/>
              </a:spcAft>
            </a:pPr>
            <a:r>
              <a:rPr lang="en-US" sz="2000" dirty="0" smtClean="0">
                <a:latin typeface="Symbol"/>
                <a:ea typeface="Times New Roman"/>
                <a:cs typeface="Times New Roman"/>
              </a:rPr>
              <a:t>·</a:t>
            </a:r>
            <a:r>
              <a:rPr lang="en-US" sz="2000" dirty="0" smtClean="0">
                <a:latin typeface="Times New Roman"/>
                <a:ea typeface="Times New Roman"/>
                <a:cs typeface="Times New Roman"/>
              </a:rPr>
              <a:t>  </a:t>
            </a:r>
            <a:r>
              <a:rPr lang="en-US" sz="2000" b="1" dirty="0" smtClean="0">
                <a:latin typeface="Times New Roman"/>
                <a:ea typeface="Times New Roman"/>
                <a:cs typeface="Times New Roman"/>
              </a:rPr>
              <a:t>Time-Consuming Laboratory Analysis</a:t>
            </a:r>
            <a:r>
              <a:rPr lang="en-US" sz="2000" dirty="0" smtClean="0">
                <a:latin typeface="Times New Roman"/>
                <a:ea typeface="Times New Roman"/>
                <a:cs typeface="Times New Roman"/>
              </a:rPr>
              <a:t/>
            </a:r>
            <a:br>
              <a:rPr lang="en-US" sz="2000" dirty="0" smtClean="0">
                <a:latin typeface="Times New Roman"/>
                <a:ea typeface="Times New Roman"/>
                <a:cs typeface="Times New Roman"/>
              </a:rPr>
            </a:br>
            <a:r>
              <a:rPr lang="en-US" sz="2000" dirty="0" smtClean="0">
                <a:latin typeface="Times New Roman"/>
                <a:ea typeface="Times New Roman"/>
                <a:cs typeface="Times New Roman"/>
              </a:rPr>
              <a:t>Existing methods often require sample preparation, transportation to laboratories, and testing time, which delays result availability, especially in emergency situations.</a:t>
            </a:r>
            <a:endParaRPr lang="en-US" sz="1600" dirty="0">
              <a:latin typeface="Calibri"/>
              <a:ea typeface="Calibri"/>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CustomShape 10"/>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0" strike="noStrike" spc="-1" dirty="0">
                <a:solidFill>
                  <a:srgbClr val="000000"/>
                </a:solidFill>
                <a:latin typeface="Times New Roman" panose="02020603050405020304" pitchFamily="18" charset="0"/>
                <a:ea typeface="DejaVu Sans"/>
                <a:cs typeface="Times New Roman" panose="02020603050405020304" pitchFamily="18" charset="0"/>
              </a:rPr>
              <a:t>Proposed System</a:t>
            </a:r>
            <a:endParaRPr lang="en-IN" sz="28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 xmlns:a16="http://schemas.microsoft.com/office/drawing/2014/main" id="{B74160CC-D8EC-52F7-7BCC-FC999B0EC6C1}"/>
              </a:ext>
            </a:extLst>
          </p:cNvPr>
          <p:cNvSpPr>
            <a:spLocks noChangeArrowheads="1"/>
          </p:cNvSpPr>
          <p:nvPr/>
        </p:nvSpPr>
        <p:spPr bwMode="auto">
          <a:xfrm>
            <a:off x="846350" y="927858"/>
            <a:ext cx="8719930" cy="420288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IN" dirty="0" smtClean="0">
                <a:latin typeface="Times New Roman"/>
                <a:ea typeface="Calibri"/>
              </a:rPr>
              <a:t>The proposed system introduces a novel, non-invasive method for predicting an individual’s blood group using </a:t>
            </a:r>
            <a:r>
              <a:rPr lang="en-IN" b="1" dirty="0" smtClean="0">
                <a:latin typeface="Times New Roman"/>
                <a:ea typeface="Calibri"/>
              </a:rPr>
              <a:t>fingerprint map reading</a:t>
            </a:r>
            <a:r>
              <a:rPr lang="en-IN" dirty="0" smtClean="0">
                <a:latin typeface="Times New Roman"/>
                <a:ea typeface="Calibri"/>
              </a:rPr>
              <a:t> derived from </a:t>
            </a:r>
            <a:r>
              <a:rPr lang="en-IN" b="1" dirty="0" smtClean="0">
                <a:latin typeface="Times New Roman"/>
                <a:ea typeface="Calibri"/>
              </a:rPr>
              <a:t>thermal spectroscopic </a:t>
            </a:r>
            <a:r>
              <a:rPr lang="en-IN" b="1" dirty="0" err="1" smtClean="0">
                <a:latin typeface="Times New Roman"/>
                <a:ea typeface="Calibri"/>
              </a:rPr>
              <a:t>Photoplethysmographic</a:t>
            </a:r>
            <a:r>
              <a:rPr lang="en-IN" b="1" dirty="0" smtClean="0">
                <a:latin typeface="Times New Roman"/>
                <a:ea typeface="Calibri"/>
              </a:rPr>
              <a:t> (PPG) sensors</a:t>
            </a:r>
            <a:r>
              <a:rPr lang="en-IN" dirty="0" smtClean="0">
                <a:latin typeface="Times New Roman"/>
                <a:ea typeface="Calibri"/>
              </a:rPr>
              <a:t>. In this approach, fingerprint images captured via specialized sensors are processed to extract </a:t>
            </a:r>
            <a:r>
              <a:rPr lang="en-IN" b="1" dirty="0" smtClean="0">
                <a:latin typeface="Times New Roman"/>
                <a:ea typeface="Calibri"/>
              </a:rPr>
              <a:t>Gabor signal features</a:t>
            </a:r>
            <a:r>
              <a:rPr lang="en-IN" dirty="0" smtClean="0">
                <a:latin typeface="Times New Roman"/>
                <a:ea typeface="Calibri"/>
              </a:rPr>
              <a:t>, which are then fed into a </a:t>
            </a:r>
            <a:r>
              <a:rPr lang="en-IN" b="1" dirty="0" err="1" smtClean="0">
                <a:latin typeface="Times New Roman"/>
                <a:ea typeface="Calibri"/>
              </a:rPr>
              <a:t>Convolutional</a:t>
            </a:r>
            <a:r>
              <a:rPr lang="en-IN" b="1" dirty="0" smtClean="0">
                <a:latin typeface="Times New Roman"/>
                <a:ea typeface="Calibri"/>
              </a:rPr>
              <a:t> Neural Network (CNN)</a:t>
            </a:r>
            <a:r>
              <a:rPr lang="en-IN" dirty="0" smtClean="0">
                <a:latin typeface="Times New Roman"/>
                <a:ea typeface="Calibri"/>
              </a:rPr>
              <a:t> machine learning model. This trained model is capable of classifying the fingerprint image into the corresponding blood group category with high accuracy. The application includes essential modules such as </a:t>
            </a:r>
            <a:r>
              <a:rPr lang="en-IN" b="1" dirty="0" smtClean="0">
                <a:latin typeface="Times New Roman"/>
                <a:ea typeface="Calibri"/>
              </a:rPr>
              <a:t>User Login</a:t>
            </a:r>
            <a:r>
              <a:rPr lang="en-IN" dirty="0" smtClean="0">
                <a:latin typeface="Times New Roman"/>
                <a:ea typeface="Calibri"/>
              </a:rPr>
              <a:t>, </a:t>
            </a:r>
            <a:r>
              <a:rPr lang="en-IN" b="1" dirty="0" smtClean="0">
                <a:latin typeface="Times New Roman"/>
                <a:ea typeface="Calibri"/>
              </a:rPr>
              <a:t>Train ML Algorithm</a:t>
            </a:r>
            <a:r>
              <a:rPr lang="en-IN" dirty="0" smtClean="0">
                <a:latin typeface="Times New Roman"/>
                <a:ea typeface="Calibri"/>
              </a:rPr>
              <a:t>, and </a:t>
            </a:r>
            <a:r>
              <a:rPr lang="en-IN" b="1" dirty="0" smtClean="0">
                <a:latin typeface="Times New Roman"/>
                <a:ea typeface="Calibri"/>
              </a:rPr>
              <a:t>Prediction</a:t>
            </a:r>
            <a:r>
              <a:rPr lang="en-IN" dirty="0" smtClean="0">
                <a:latin typeface="Times New Roman"/>
                <a:ea typeface="Calibri"/>
              </a:rPr>
              <a:t>. Users can log into the system, train the ML model with thermal fingerprint data, view performance metrics (accuracy, precision, recall, F1-score), and predict blood group for new input images.</a:t>
            </a:r>
            <a:endParaRPr lang="en-US" sz="1400" dirty="0">
              <a:latin typeface="Calibri"/>
              <a:ea typeface="Calibri"/>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CustomShape 12"/>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4400" b="0" strike="noStrike" spc="-1">
                <a:solidFill>
                  <a:srgbClr val="000000"/>
                </a:solidFill>
                <a:latin typeface="Calibri"/>
                <a:ea typeface="DejaVu Sans"/>
              </a:rPr>
              <a:t>Advantages</a:t>
            </a:r>
            <a:endParaRPr lang="en-IN" sz="4400" b="0" strike="noStrike" spc="-1">
              <a:solidFill>
                <a:srgbClr val="000000"/>
              </a:solidFill>
              <a:latin typeface="Arial"/>
            </a:endParaRPr>
          </a:p>
        </p:txBody>
      </p:sp>
      <p:sp>
        <p:nvSpPr>
          <p:cNvPr id="3" name="Rectangle 1">
            <a:extLst>
              <a:ext uri="{FF2B5EF4-FFF2-40B4-BE49-F238E27FC236}">
                <a16:creationId xmlns="" xmlns:a16="http://schemas.microsoft.com/office/drawing/2014/main" id="{8EC1ED73-8027-7564-7E45-8E5E7ADF29AD}"/>
              </a:ext>
            </a:extLst>
          </p:cNvPr>
          <p:cNvSpPr>
            <a:spLocks noChangeArrowheads="1"/>
          </p:cNvSpPr>
          <p:nvPr/>
        </p:nvSpPr>
        <p:spPr bwMode="auto">
          <a:xfrm>
            <a:off x="850626" y="1090806"/>
            <a:ext cx="8817810" cy="35189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a:lnSpc>
                <a:spcPct val="150000"/>
              </a:lnSpc>
              <a:spcAft>
                <a:spcPts val="800"/>
              </a:spcAft>
            </a:pPr>
            <a:r>
              <a:rPr lang="en-US" dirty="0" smtClean="0">
                <a:latin typeface="Symbol"/>
                <a:ea typeface="Times New Roman"/>
                <a:cs typeface="Times New Roman"/>
              </a:rPr>
              <a:t>·</a:t>
            </a:r>
            <a:r>
              <a:rPr lang="en-US" dirty="0" smtClean="0">
                <a:latin typeface="Times New Roman"/>
                <a:ea typeface="Times New Roman"/>
                <a:cs typeface="Times New Roman"/>
              </a:rPr>
              <a:t>  </a:t>
            </a:r>
            <a:r>
              <a:rPr lang="en-US" b="1" dirty="0" smtClean="0">
                <a:latin typeface="Times New Roman"/>
                <a:ea typeface="Times New Roman"/>
                <a:cs typeface="Times New Roman"/>
              </a:rPr>
              <a:t>Non-Invasive Blood Group Detection</a:t>
            </a:r>
            <a:r>
              <a:rPr lang="en-US" dirty="0" smtClean="0">
                <a:latin typeface="Times New Roman"/>
                <a:ea typeface="Times New Roman"/>
                <a:cs typeface="Times New Roman"/>
              </a:rPr>
              <a:t/>
            </a:r>
            <a:br>
              <a:rPr lang="en-US" dirty="0" smtClean="0">
                <a:latin typeface="Times New Roman"/>
                <a:ea typeface="Times New Roman"/>
                <a:cs typeface="Times New Roman"/>
              </a:rPr>
            </a:br>
            <a:r>
              <a:rPr lang="en-US" dirty="0" smtClean="0">
                <a:latin typeface="Times New Roman"/>
                <a:ea typeface="Times New Roman"/>
                <a:cs typeface="Times New Roman"/>
              </a:rPr>
              <a:t>The system uses fingerprint images captured via </a:t>
            </a:r>
            <a:r>
              <a:rPr lang="en-US" b="1" dirty="0" smtClean="0">
                <a:latin typeface="Times New Roman"/>
                <a:ea typeface="Times New Roman"/>
                <a:cs typeface="Times New Roman"/>
              </a:rPr>
              <a:t>Thermal Spectroscopic </a:t>
            </a:r>
            <a:r>
              <a:rPr lang="en-US" b="1" dirty="0" err="1" smtClean="0">
                <a:latin typeface="Times New Roman"/>
                <a:ea typeface="Times New Roman"/>
                <a:cs typeface="Times New Roman"/>
              </a:rPr>
              <a:t>Photoplethysmographic</a:t>
            </a:r>
            <a:r>
              <a:rPr lang="en-US" b="1" dirty="0" smtClean="0">
                <a:latin typeface="Times New Roman"/>
                <a:ea typeface="Times New Roman"/>
                <a:cs typeface="Times New Roman"/>
              </a:rPr>
              <a:t> (PPG) sensors</a:t>
            </a:r>
            <a:r>
              <a:rPr lang="en-US" dirty="0" smtClean="0">
                <a:latin typeface="Times New Roman"/>
                <a:ea typeface="Times New Roman"/>
                <a:cs typeface="Times New Roman"/>
              </a:rPr>
              <a:t>, making the blood group prediction process completely non-invasive—no need for blood samples.</a:t>
            </a:r>
            <a:endParaRPr lang="en-US" sz="1600" dirty="0" smtClean="0">
              <a:latin typeface="Calibri"/>
              <a:ea typeface="Calibri"/>
              <a:cs typeface="Times New Roman"/>
            </a:endParaRPr>
          </a:p>
          <a:p>
            <a:pPr marL="228600">
              <a:lnSpc>
                <a:spcPct val="150000"/>
              </a:lnSpc>
              <a:spcAft>
                <a:spcPts val="800"/>
              </a:spcAft>
            </a:pPr>
            <a:r>
              <a:rPr lang="en-US" dirty="0" smtClean="0">
                <a:latin typeface="Symbol"/>
                <a:ea typeface="Times New Roman"/>
                <a:cs typeface="Times New Roman"/>
              </a:rPr>
              <a:t>·</a:t>
            </a:r>
            <a:r>
              <a:rPr lang="en-US" dirty="0" smtClean="0">
                <a:latin typeface="Times New Roman"/>
                <a:ea typeface="Times New Roman"/>
                <a:cs typeface="Times New Roman"/>
              </a:rPr>
              <a:t>  </a:t>
            </a:r>
            <a:r>
              <a:rPr lang="en-US" b="1" dirty="0" smtClean="0">
                <a:latin typeface="Times New Roman"/>
                <a:ea typeface="Times New Roman"/>
                <a:cs typeface="Times New Roman"/>
              </a:rPr>
              <a:t>High Prediction Accuracy</a:t>
            </a:r>
            <a:r>
              <a:rPr lang="en-US" dirty="0" smtClean="0">
                <a:latin typeface="Times New Roman"/>
                <a:ea typeface="Times New Roman"/>
                <a:cs typeface="Times New Roman"/>
              </a:rPr>
              <a:t/>
            </a:r>
            <a:br>
              <a:rPr lang="en-US" dirty="0" smtClean="0">
                <a:latin typeface="Times New Roman"/>
                <a:ea typeface="Times New Roman"/>
                <a:cs typeface="Times New Roman"/>
              </a:rPr>
            </a:br>
            <a:r>
              <a:rPr lang="en-US" dirty="0" smtClean="0">
                <a:latin typeface="Times New Roman"/>
                <a:ea typeface="Times New Roman"/>
                <a:cs typeface="Times New Roman"/>
              </a:rPr>
              <a:t>The Machine Learning model, specifically a </a:t>
            </a:r>
            <a:r>
              <a:rPr lang="en-US" b="1" dirty="0" err="1" smtClean="0">
                <a:latin typeface="Times New Roman"/>
                <a:ea typeface="Times New Roman"/>
                <a:cs typeface="Times New Roman"/>
              </a:rPr>
              <a:t>Convolutional</a:t>
            </a:r>
            <a:r>
              <a:rPr lang="en-US" b="1" dirty="0" smtClean="0">
                <a:latin typeface="Times New Roman"/>
                <a:ea typeface="Times New Roman"/>
                <a:cs typeface="Times New Roman"/>
              </a:rPr>
              <a:t> Neural Network (CNN)</a:t>
            </a:r>
            <a:r>
              <a:rPr lang="en-US" dirty="0" smtClean="0">
                <a:latin typeface="Times New Roman"/>
                <a:ea typeface="Times New Roman"/>
                <a:cs typeface="Times New Roman"/>
              </a:rPr>
              <a:t>, achieved an accuracy of </a:t>
            </a:r>
            <a:r>
              <a:rPr lang="en-US" b="1" dirty="0" smtClean="0">
                <a:latin typeface="Times New Roman"/>
                <a:ea typeface="Times New Roman"/>
                <a:cs typeface="Times New Roman"/>
              </a:rPr>
              <a:t>97%</a:t>
            </a:r>
            <a:r>
              <a:rPr lang="en-US" dirty="0" smtClean="0">
                <a:latin typeface="Times New Roman"/>
                <a:ea typeface="Times New Roman"/>
                <a:cs typeface="Times New Roman"/>
              </a:rPr>
              <a:t>, as shown in the training result screenshots. This indicates strong model performance and reliable predictions.</a:t>
            </a:r>
            <a:endParaRPr lang="en-US" sz="1600" dirty="0">
              <a:latin typeface="Calibri"/>
              <a:ea typeface="Calibri"/>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CustomShape 14"/>
          <p:cNvSpPr/>
          <p:nvPr/>
        </p:nvSpPr>
        <p:spPr>
          <a:xfrm>
            <a:off x="673920" y="483754"/>
            <a:ext cx="8978760" cy="81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fontScale="62500" lnSpcReduction="20000"/>
          </a:bodyPr>
          <a:lstStyle/>
          <a:p>
            <a:pPr>
              <a:lnSpc>
                <a:spcPct val="100000"/>
              </a:lnSpc>
            </a:pPr>
            <a:r>
              <a:rPr lang="en-US" sz="4400" b="1" u="sng" strike="noStrike" spc="-1">
                <a:solidFill>
                  <a:srgbClr val="775F55"/>
                </a:solidFill>
                <a:uFillTx/>
                <a:latin typeface="Tw Cen MT"/>
                <a:ea typeface="DejaVu Sans"/>
              </a:rPr>
              <a:t>HARDWARE REQUIREMENTS:</a:t>
            </a:r>
            <a:r>
              <a:rPr sz="4400"/>
              <a:t/>
            </a:r>
            <a:br>
              <a:rPr sz="4400"/>
            </a:br>
            <a:endParaRPr lang="en-IN" sz="4400" b="0" strike="noStrike" spc="-1">
              <a:solidFill>
                <a:srgbClr val="000000"/>
              </a:solidFill>
              <a:latin typeface="Arial"/>
            </a:endParaRPr>
          </a:p>
        </p:txBody>
      </p:sp>
      <p:sp>
        <p:nvSpPr>
          <p:cNvPr id="171" name="CustomShape 13"/>
          <p:cNvSpPr/>
          <p:nvPr/>
        </p:nvSpPr>
        <p:spPr>
          <a:xfrm>
            <a:off x="673920" y="1321920"/>
            <a:ext cx="8978760" cy="37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IN" sz="2000" dirty="0" smtClean="0"/>
              <a:t>•	System		:	 Pentium IV 2.4 GHz.</a:t>
            </a:r>
            <a:endParaRPr lang="en-US" sz="2000" dirty="0" smtClean="0"/>
          </a:p>
          <a:p>
            <a:pPr>
              <a:lnSpc>
                <a:spcPct val="150000"/>
              </a:lnSpc>
            </a:pPr>
            <a:r>
              <a:rPr lang="en-IN" sz="2000" dirty="0" smtClean="0"/>
              <a:t>•	Hard Disk        	: 	40 GB.</a:t>
            </a:r>
            <a:endParaRPr lang="en-US" sz="2000" dirty="0" smtClean="0"/>
          </a:p>
          <a:p>
            <a:pPr>
              <a:lnSpc>
                <a:spcPct val="150000"/>
              </a:lnSpc>
            </a:pPr>
            <a:r>
              <a:rPr lang="en-IN" sz="2000" dirty="0" smtClean="0"/>
              <a:t>•	Ram		: 	512 Mb.</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CustomShape 16"/>
          <p:cNvSpPr/>
          <p:nvPr/>
        </p:nvSpPr>
        <p:spPr>
          <a:xfrm>
            <a:off x="673920" y="470307"/>
            <a:ext cx="8978760" cy="81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fontScale="62500" lnSpcReduction="20000"/>
          </a:bodyPr>
          <a:lstStyle/>
          <a:p>
            <a:pPr>
              <a:lnSpc>
                <a:spcPct val="100000"/>
              </a:lnSpc>
            </a:pPr>
            <a:r>
              <a:rPr lang="en-US" sz="4400" b="1" u="sng" strike="noStrike" spc="-1" dirty="0">
                <a:solidFill>
                  <a:srgbClr val="775F55"/>
                </a:solidFill>
                <a:uFillTx/>
                <a:latin typeface="Tw Cen MT"/>
                <a:ea typeface="DejaVu Sans"/>
              </a:rPr>
              <a:t>SOFTWARE REQUIREMENTS:</a:t>
            </a:r>
            <a:r>
              <a:rPr sz="4400"/>
              <a:t/>
            </a:r>
            <a:br>
              <a:rPr sz="4400"/>
            </a:br>
            <a:endParaRPr lang="en-IN" sz="4400" b="0" strike="noStrike" spc="-1" dirty="0">
              <a:solidFill>
                <a:srgbClr val="000000"/>
              </a:solidFill>
              <a:latin typeface="Arial"/>
            </a:endParaRPr>
          </a:p>
        </p:txBody>
      </p:sp>
      <p:sp>
        <p:nvSpPr>
          <p:cNvPr id="173" name="CustomShape 15"/>
          <p:cNvSpPr/>
          <p:nvPr/>
        </p:nvSpPr>
        <p:spPr>
          <a:xfrm>
            <a:off x="673920" y="1321920"/>
            <a:ext cx="8978760" cy="37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IN" sz="2000" dirty="0" smtClean="0"/>
              <a:t>•	Operating system 	: 	 Windows.</a:t>
            </a:r>
            <a:endParaRPr lang="en-US" sz="2000" dirty="0" smtClean="0"/>
          </a:p>
          <a:p>
            <a:pPr>
              <a:lnSpc>
                <a:spcPct val="150000"/>
              </a:lnSpc>
            </a:pPr>
            <a:r>
              <a:rPr lang="en-IN" sz="2000" dirty="0" smtClean="0"/>
              <a:t>•	Coding Language	:	  python.</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CustomShape 17"/>
          <p:cNvSpPr/>
          <p:nvPr/>
        </p:nvSpPr>
        <p:spPr>
          <a:xfrm>
            <a:off x="898592" y="280786"/>
            <a:ext cx="8978760" cy="81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IN" sz="2800" b="1" u="sng" strike="noStrike" spc="-1" dirty="0">
                <a:solidFill>
                  <a:srgbClr val="000000"/>
                </a:solidFill>
                <a:latin typeface="Times New Roman" panose="02020603050405020304" pitchFamily="18" charset="0"/>
                <a:ea typeface="DejaVu Sans"/>
                <a:cs typeface="Times New Roman" panose="02020603050405020304" pitchFamily="18" charset="0"/>
              </a:rPr>
              <a:t>Modules</a:t>
            </a:r>
            <a:endParaRPr lang="en-IN" sz="2800" b="1" u="sng" strike="noStrike" spc="-1" dirty="0">
              <a:solidFill>
                <a:srgbClr val="00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 xmlns:a16="http://schemas.microsoft.com/office/drawing/2014/main" id="{2571C4AE-1CAE-293E-CC04-EDD8E103FDC6}"/>
              </a:ext>
            </a:extLst>
          </p:cNvPr>
          <p:cNvSpPr>
            <a:spLocks noChangeArrowheads="1"/>
          </p:cNvSpPr>
          <p:nvPr/>
        </p:nvSpPr>
        <p:spPr bwMode="auto">
          <a:xfrm>
            <a:off x="1006169" y="941630"/>
            <a:ext cx="8440867" cy="454996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spcAft>
                <a:spcPts val="800"/>
              </a:spcAft>
            </a:pPr>
            <a:r>
              <a:rPr lang="en-US" b="1" dirty="0" smtClean="0">
                <a:latin typeface="Times New Roman"/>
                <a:ea typeface="Times New Roman"/>
                <a:cs typeface="Times New Roman"/>
              </a:rPr>
              <a:t>1. Environment Setup</a:t>
            </a:r>
            <a:endParaRPr lang="en-US" sz="1400" dirty="0" smtClean="0">
              <a:latin typeface="Calibri"/>
              <a:ea typeface="Calibri"/>
              <a:cs typeface="Times New Roman"/>
            </a:endParaRPr>
          </a:p>
          <a:p>
            <a:pPr marL="342900" lvl="0" indent="-342900">
              <a:lnSpc>
                <a:spcPct val="150000"/>
              </a:lnSpc>
              <a:spcAft>
                <a:spcPts val="800"/>
              </a:spcAft>
              <a:buSzPts val="1000"/>
              <a:buFont typeface="Symbol"/>
              <a:buChar char=""/>
              <a:tabLst>
                <a:tab pos="457200" algn="l"/>
              </a:tabLst>
            </a:pPr>
            <a:r>
              <a:rPr lang="en-US" b="1" dirty="0" smtClean="0">
                <a:latin typeface="Times New Roman"/>
                <a:ea typeface="Times New Roman"/>
                <a:cs typeface="Times New Roman"/>
              </a:rPr>
              <a:t>Python </a:t>
            </a:r>
            <a:r>
              <a:rPr lang="en-US" b="1" dirty="0" smtClean="0">
                <a:latin typeface="Times New Roman"/>
                <a:ea typeface="Times New Roman"/>
                <a:cs typeface="Times New Roman"/>
              </a:rPr>
              <a:t>Version</a:t>
            </a:r>
            <a:r>
              <a:rPr lang="en-US" dirty="0" smtClean="0">
                <a:latin typeface="Times New Roman"/>
                <a:ea typeface="Times New Roman"/>
                <a:cs typeface="Times New Roman"/>
              </a:rPr>
              <a:t>: 3.7.2</a:t>
            </a:r>
            <a:endParaRPr lang="en-US" sz="1400" dirty="0" smtClean="0">
              <a:latin typeface="Calibri"/>
              <a:ea typeface="Calibri"/>
              <a:cs typeface="Times New Roman"/>
            </a:endParaRPr>
          </a:p>
          <a:p>
            <a:pPr marL="342900" lvl="0" indent="-342900">
              <a:lnSpc>
                <a:spcPct val="150000"/>
              </a:lnSpc>
              <a:spcAft>
                <a:spcPts val="800"/>
              </a:spcAft>
              <a:buSzPts val="1000"/>
              <a:buFont typeface="Symbol"/>
              <a:buChar char=""/>
              <a:tabLst>
                <a:tab pos="457200" algn="l"/>
              </a:tabLst>
            </a:pPr>
            <a:r>
              <a:rPr lang="en-US" b="1" dirty="0" smtClean="0">
                <a:latin typeface="Times New Roman"/>
                <a:ea typeface="Times New Roman"/>
                <a:cs typeface="Times New Roman"/>
              </a:rPr>
              <a:t>Libraries</a:t>
            </a:r>
            <a:r>
              <a:rPr lang="en-US" dirty="0" smtClean="0">
                <a:latin typeface="Times New Roman"/>
                <a:ea typeface="Times New Roman"/>
                <a:cs typeface="Times New Roman"/>
              </a:rPr>
              <a:t>: All required packages are listed in </a:t>
            </a:r>
            <a:r>
              <a:rPr lang="en-US" sz="1400" dirty="0" smtClean="0">
                <a:latin typeface="Courier New"/>
                <a:ea typeface="Times New Roman"/>
                <a:cs typeface="Times New Roman"/>
              </a:rPr>
              <a:t>requirements.txt</a:t>
            </a:r>
            <a:r>
              <a:rPr lang="en-US" dirty="0" smtClean="0">
                <a:latin typeface="Times New Roman"/>
                <a:ea typeface="Times New Roman"/>
                <a:cs typeface="Times New Roman"/>
              </a:rPr>
              <a:t>.</a:t>
            </a:r>
            <a:endParaRPr lang="en-US" sz="1400" dirty="0" smtClean="0">
              <a:latin typeface="Calibri"/>
              <a:ea typeface="Calibri"/>
              <a:cs typeface="Times New Roman"/>
            </a:endParaRPr>
          </a:p>
          <a:p>
            <a:pPr marL="342900" lvl="0" indent="-342900">
              <a:lnSpc>
                <a:spcPct val="150000"/>
              </a:lnSpc>
              <a:spcAft>
                <a:spcPts val="800"/>
              </a:spcAft>
              <a:buSzPts val="1000"/>
              <a:buFont typeface="Symbol"/>
              <a:buChar char=""/>
              <a:tabLst>
                <a:tab pos="457200" algn="l"/>
              </a:tabLst>
            </a:pPr>
            <a:r>
              <a:rPr lang="en-US" b="1" dirty="0" smtClean="0">
                <a:latin typeface="Times New Roman"/>
                <a:ea typeface="Times New Roman"/>
                <a:cs typeface="Times New Roman"/>
              </a:rPr>
              <a:t>Execution</a:t>
            </a:r>
            <a:r>
              <a:rPr lang="en-US" dirty="0" smtClean="0">
                <a:latin typeface="Times New Roman"/>
                <a:ea typeface="Times New Roman"/>
                <a:cs typeface="Times New Roman"/>
              </a:rPr>
              <a:t>: Start the server by running the </a:t>
            </a:r>
            <a:r>
              <a:rPr lang="en-US" sz="1400" dirty="0" smtClean="0">
                <a:latin typeface="Courier New"/>
                <a:ea typeface="Times New Roman"/>
                <a:cs typeface="Times New Roman"/>
              </a:rPr>
              <a:t>run.bat</a:t>
            </a:r>
            <a:r>
              <a:rPr lang="en-US" dirty="0" smtClean="0">
                <a:latin typeface="Times New Roman"/>
                <a:ea typeface="Times New Roman"/>
                <a:cs typeface="Times New Roman"/>
              </a:rPr>
              <a:t> file. This launches a local Python web server</a:t>
            </a:r>
            <a:r>
              <a:rPr lang="en-US" dirty="0" smtClean="0">
                <a:latin typeface="Times New Roman"/>
                <a:ea typeface="Times New Roman"/>
                <a:cs typeface="Times New Roman"/>
              </a:rPr>
              <a:t>.</a:t>
            </a:r>
            <a:endParaRPr lang="en-US" sz="1400" dirty="0" smtClean="0">
              <a:latin typeface="Calibri"/>
              <a:ea typeface="Calibri"/>
              <a:cs typeface="Times New Roman"/>
            </a:endParaRPr>
          </a:p>
          <a:p>
            <a:pPr>
              <a:lnSpc>
                <a:spcPct val="150000"/>
              </a:lnSpc>
              <a:spcAft>
                <a:spcPts val="800"/>
              </a:spcAft>
            </a:pPr>
            <a:r>
              <a:rPr lang="en-US" b="1" dirty="0" smtClean="0">
                <a:latin typeface="Times New Roman"/>
                <a:ea typeface="Times New Roman"/>
                <a:cs typeface="Times New Roman"/>
              </a:rPr>
              <a:t>2. Application Modules</a:t>
            </a:r>
            <a:endParaRPr lang="en-US" sz="1400" dirty="0" smtClean="0">
              <a:latin typeface="Calibri"/>
              <a:ea typeface="Calibri"/>
              <a:cs typeface="Times New Roman"/>
            </a:endParaRPr>
          </a:p>
          <a:p>
            <a:pPr>
              <a:lnSpc>
                <a:spcPct val="150000"/>
              </a:lnSpc>
              <a:spcAft>
                <a:spcPts val="800"/>
              </a:spcAft>
            </a:pPr>
            <a:r>
              <a:rPr lang="en-US" b="1" dirty="0" smtClean="0">
                <a:latin typeface="Times New Roman"/>
                <a:ea typeface="Times New Roman"/>
                <a:cs typeface="Times New Roman"/>
              </a:rPr>
              <a:t>a</a:t>
            </a:r>
            <a:r>
              <a:rPr lang="en-US" b="1" dirty="0" smtClean="0">
                <a:latin typeface="Times New Roman"/>
                <a:ea typeface="Times New Roman"/>
                <a:cs typeface="Times New Roman"/>
              </a:rPr>
              <a:t>. User Login</a:t>
            </a:r>
            <a:endParaRPr lang="en-US" sz="1400" dirty="0" smtClean="0">
              <a:latin typeface="Calibri"/>
              <a:ea typeface="Calibri"/>
              <a:cs typeface="Times New Roman"/>
            </a:endParaRPr>
          </a:p>
          <a:p>
            <a:pPr>
              <a:lnSpc>
                <a:spcPct val="150000"/>
              </a:lnSpc>
              <a:spcAft>
                <a:spcPts val="800"/>
              </a:spcAft>
            </a:pPr>
            <a:r>
              <a:rPr lang="en-US" b="1" dirty="0" smtClean="0">
                <a:latin typeface="Times New Roman"/>
                <a:ea typeface="Times New Roman"/>
                <a:cs typeface="Times New Roman"/>
              </a:rPr>
              <a:t>b. Train ML Algorithm</a:t>
            </a:r>
            <a:endParaRPr lang="en-US" sz="1400" dirty="0" smtClean="0">
              <a:latin typeface="Calibri"/>
              <a:ea typeface="Calibri"/>
              <a:cs typeface="Times New Roman"/>
            </a:endParaRPr>
          </a:p>
          <a:p>
            <a:pPr>
              <a:lnSpc>
                <a:spcPct val="150000"/>
              </a:lnSpc>
              <a:spcAft>
                <a:spcPts val="800"/>
              </a:spcAft>
            </a:pPr>
            <a:r>
              <a:rPr lang="en-US" b="1" dirty="0" smtClean="0">
                <a:latin typeface="Times New Roman"/>
                <a:ea typeface="Times New Roman"/>
                <a:cs typeface="Times New Roman"/>
              </a:rPr>
              <a:t>c. Prediction</a:t>
            </a:r>
            <a:endParaRPr lang="en-US" sz="1400" dirty="0">
              <a:latin typeface="Calibri"/>
              <a:ea typeface="Calibri"/>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8529" y="578224"/>
            <a:ext cx="4840942" cy="461665"/>
          </a:xfrm>
          <a:prstGeom prst="rect">
            <a:avLst/>
          </a:prstGeom>
          <a:noFill/>
        </p:spPr>
        <p:txBody>
          <a:bodyPr wrap="square" rtlCol="0">
            <a:spAutoFit/>
          </a:bodyPr>
          <a:lstStyle/>
          <a:p>
            <a:r>
              <a:rPr lang="en-IN" sz="2400" b="1" dirty="0" smtClean="0">
                <a:latin typeface="Times New Roman" pitchFamily="18" charset="0"/>
                <a:cs typeface="Times New Roman" pitchFamily="18" charset="0"/>
              </a:rPr>
              <a:t>System Architecture:</a:t>
            </a:r>
            <a:endParaRPr lang="en-US" sz="2400" b="1" dirty="0">
              <a:latin typeface="Times New Roman" pitchFamily="18" charset="0"/>
              <a:cs typeface="Times New Roman" pitchFamily="18" charset="0"/>
            </a:endParaRPr>
          </a:p>
        </p:txBody>
      </p:sp>
      <p:pic>
        <p:nvPicPr>
          <p:cNvPr id="4" name="Picture 3" descr="Figure 2 from A Novel Approach to Predict Blood Group using Fingerprint ..."/>
          <p:cNvPicPr/>
          <p:nvPr/>
        </p:nvPicPr>
        <p:blipFill>
          <a:blip r:embed="rId2"/>
          <a:srcRect/>
          <a:stretch>
            <a:fillRect/>
          </a:stretch>
        </p:blipFill>
        <p:spPr bwMode="auto">
          <a:xfrm>
            <a:off x="2237105" y="701675"/>
            <a:ext cx="5606415" cy="42672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CustomShape 19"/>
          <p:cNvSpPr/>
          <p:nvPr/>
        </p:nvSpPr>
        <p:spPr>
          <a:xfrm>
            <a:off x="673920" y="187920"/>
            <a:ext cx="8978760" cy="81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100000"/>
              </a:lnSpc>
            </a:pPr>
            <a:r>
              <a:rPr lang="en-IN" sz="4400" b="0" strike="noStrike" spc="-1">
                <a:solidFill>
                  <a:srgbClr val="000000"/>
                </a:solidFill>
                <a:latin typeface="Arial"/>
                <a:ea typeface="DejaVu Sans"/>
              </a:rPr>
              <a:t>UML</a:t>
            </a:r>
            <a:endParaRPr lang="en-IN" sz="4400" b="0" strike="noStrike" spc="-1">
              <a:solidFill>
                <a:srgbClr val="000000"/>
              </a:solidFill>
              <a:latin typeface="Arial"/>
            </a:endParaRPr>
          </a:p>
        </p:txBody>
      </p:sp>
      <p:sp>
        <p:nvSpPr>
          <p:cNvPr id="183" name="CustomShape 20"/>
          <p:cNvSpPr/>
          <p:nvPr/>
        </p:nvSpPr>
        <p:spPr>
          <a:xfrm>
            <a:off x="631080" y="824400"/>
            <a:ext cx="8978760" cy="37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8000"/>
              </a:lnSpc>
              <a:spcAft>
                <a:spcPts val="799"/>
              </a:spcAft>
            </a:pPr>
            <a:endParaRPr lang="en-IN" sz="1800" b="0" strike="noStrike" spc="-1">
              <a:solidFill>
                <a:srgbClr val="000000"/>
              </a:solidFill>
              <a:latin typeface="Times New Roman"/>
              <a:ea typeface="Times New Roman"/>
            </a:endParaRPr>
          </a:p>
        </p:txBody>
      </p:sp>
      <p:sp>
        <p:nvSpPr>
          <p:cNvPr id="6" name="TextBox 5"/>
          <p:cNvSpPr txBox="1"/>
          <p:nvPr/>
        </p:nvSpPr>
        <p:spPr>
          <a:xfrm>
            <a:off x="1116106" y="1183341"/>
            <a:ext cx="3724835" cy="400110"/>
          </a:xfrm>
          <a:prstGeom prst="rect">
            <a:avLst/>
          </a:prstGeom>
          <a:noFill/>
        </p:spPr>
        <p:txBody>
          <a:bodyPr wrap="square" rtlCol="0">
            <a:spAutoFit/>
          </a:bodyPr>
          <a:lstStyle/>
          <a:p>
            <a:r>
              <a:rPr lang="en-IN" sz="2000" b="1" dirty="0" smtClean="0">
                <a:latin typeface="Times New Roman" pitchFamily="18" charset="0"/>
                <a:cs typeface="Times New Roman" pitchFamily="18" charset="0"/>
              </a:rPr>
              <a:t>Class Diagram:</a:t>
            </a:r>
            <a:endParaRPr lang="en-US" sz="2000" b="1" dirty="0">
              <a:latin typeface="Times New Roman" pitchFamily="18" charset="0"/>
              <a:cs typeface="Times New Roman" pitchFamily="18" charset="0"/>
            </a:endParaRPr>
          </a:p>
        </p:txBody>
      </p:sp>
      <p:pic>
        <p:nvPicPr>
          <p:cNvPr id="7" name="Picture 6"/>
          <p:cNvPicPr/>
          <p:nvPr/>
        </p:nvPicPr>
        <p:blipFill>
          <a:blip r:embed="rId2"/>
          <a:srcRect/>
          <a:stretch>
            <a:fillRect/>
          </a:stretch>
        </p:blipFill>
        <p:spPr bwMode="auto">
          <a:xfrm>
            <a:off x="4190681" y="2054533"/>
            <a:ext cx="2600083" cy="2073713"/>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16106" y="753037"/>
            <a:ext cx="3724835" cy="400110"/>
          </a:xfrm>
          <a:prstGeom prst="rect">
            <a:avLst/>
          </a:prstGeom>
          <a:noFill/>
        </p:spPr>
        <p:txBody>
          <a:bodyPr wrap="square" rtlCol="0">
            <a:spAutoFit/>
          </a:bodyPr>
          <a:lstStyle/>
          <a:p>
            <a:r>
              <a:rPr lang="en-IN" sz="2000" b="1" dirty="0" smtClean="0">
                <a:latin typeface="Times New Roman" pitchFamily="18" charset="0"/>
                <a:cs typeface="Times New Roman" pitchFamily="18" charset="0"/>
              </a:rPr>
              <a:t>Use case Diagram:</a:t>
            </a:r>
            <a:endParaRPr lang="en-US" sz="2000" b="1" dirty="0">
              <a:latin typeface="Times New Roman" pitchFamily="18" charset="0"/>
              <a:cs typeface="Times New Roman" pitchFamily="18" charset="0"/>
            </a:endParaRPr>
          </a:p>
        </p:txBody>
      </p:sp>
      <p:pic>
        <p:nvPicPr>
          <p:cNvPr id="6" name="Picture 5"/>
          <p:cNvPicPr/>
          <p:nvPr/>
        </p:nvPicPr>
        <p:blipFill>
          <a:blip r:embed="rId2"/>
          <a:srcRect/>
          <a:stretch>
            <a:fillRect/>
          </a:stretch>
        </p:blipFill>
        <p:spPr bwMode="auto">
          <a:xfrm>
            <a:off x="3239303" y="1331894"/>
            <a:ext cx="3870960" cy="384048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89212" y="820270"/>
            <a:ext cx="2327881" cy="400110"/>
          </a:xfrm>
          <a:prstGeom prst="rect">
            <a:avLst/>
          </a:prstGeom>
          <a:noFill/>
        </p:spPr>
        <p:txBody>
          <a:bodyPr wrap="none" rtlCol="0">
            <a:spAutoFit/>
          </a:bodyPr>
          <a:lstStyle/>
          <a:p>
            <a:r>
              <a:rPr lang="en-IN" sz="2000" b="1" dirty="0" smtClean="0">
                <a:latin typeface="Times New Roman" pitchFamily="18" charset="0"/>
                <a:cs typeface="Times New Roman" pitchFamily="18" charset="0"/>
              </a:rPr>
              <a:t>Sequence Diagram:</a:t>
            </a:r>
            <a:endParaRPr lang="en-US" sz="2000" b="1" dirty="0">
              <a:latin typeface="Times New Roman" pitchFamily="18" charset="0"/>
              <a:cs typeface="Times New Roman" pitchFamily="18" charset="0"/>
            </a:endParaRPr>
          </a:p>
        </p:txBody>
      </p:sp>
      <p:pic>
        <p:nvPicPr>
          <p:cNvPr id="4" name="Picture 3"/>
          <p:cNvPicPr/>
          <p:nvPr/>
        </p:nvPicPr>
        <p:blipFill>
          <a:blip r:embed="rId2"/>
          <a:srcRect/>
          <a:stretch>
            <a:fillRect/>
          </a:stretch>
        </p:blipFill>
        <p:spPr bwMode="auto">
          <a:xfrm>
            <a:off x="3361670" y="1752563"/>
            <a:ext cx="3733800" cy="337566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58153" y="1021976"/>
            <a:ext cx="2824812" cy="400110"/>
          </a:xfrm>
          <a:prstGeom prst="rect">
            <a:avLst/>
          </a:prstGeom>
          <a:noFill/>
        </p:spPr>
        <p:txBody>
          <a:bodyPr wrap="none" rtlCol="0">
            <a:spAutoFit/>
          </a:bodyPr>
          <a:lstStyle/>
          <a:p>
            <a:r>
              <a:rPr lang="en-IN" sz="2000" b="1" dirty="0" smtClean="0">
                <a:latin typeface="Times New Roman" pitchFamily="18" charset="0"/>
                <a:cs typeface="Times New Roman" pitchFamily="18" charset="0"/>
              </a:rPr>
              <a:t>Collaboration Diagram:</a:t>
            </a:r>
            <a:endParaRPr lang="en-US" sz="2000" b="1" dirty="0">
              <a:latin typeface="Times New Roman" pitchFamily="18" charset="0"/>
              <a:cs typeface="Times New Roman" pitchFamily="18" charset="0"/>
            </a:endParaRPr>
          </a:p>
        </p:txBody>
      </p:sp>
      <p:pic>
        <p:nvPicPr>
          <p:cNvPr id="5" name="Picture 4"/>
          <p:cNvPicPr/>
          <p:nvPr/>
        </p:nvPicPr>
        <p:blipFill>
          <a:blip r:embed="rId2"/>
          <a:srcRect/>
          <a:stretch>
            <a:fillRect/>
          </a:stretch>
        </p:blipFill>
        <p:spPr bwMode="auto">
          <a:xfrm>
            <a:off x="3227295" y="1915720"/>
            <a:ext cx="3106270" cy="1903244"/>
          </a:xfrm>
          <a:prstGeom prst="rect">
            <a:avLst/>
          </a:prstGeom>
          <a:noFill/>
          <a:ln w="9525">
            <a:noFill/>
            <a:miter lim="800000"/>
            <a:headEnd/>
            <a:tailEnd/>
          </a:ln>
        </p:spPr>
      </p:pic>
    </p:spTree>
    <p:extLst>
      <p:ext uri="{BB962C8B-B14F-4D97-AF65-F5344CB8AC3E}">
        <p14:creationId xmlns="" xmlns:p14="http://schemas.microsoft.com/office/powerpoint/2010/main" val="3113015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2174557" y="1223962"/>
            <a:ext cx="5731510" cy="3222625"/>
          </a:xfrm>
          <a:prstGeom prst="rect">
            <a:avLst/>
          </a:prstGeom>
        </p:spPr>
      </p:pic>
    </p:spTree>
    <p:extLst>
      <p:ext uri="{BB962C8B-B14F-4D97-AF65-F5344CB8AC3E}">
        <p14:creationId xmlns="" xmlns:p14="http://schemas.microsoft.com/office/powerpoint/2010/main" val="3604280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2174557" y="1223962"/>
            <a:ext cx="5731510" cy="3222625"/>
          </a:xfrm>
          <a:prstGeom prst="rect">
            <a:avLst/>
          </a:prstGeom>
        </p:spPr>
      </p:pic>
    </p:spTree>
    <p:extLst>
      <p:ext uri="{BB962C8B-B14F-4D97-AF65-F5344CB8AC3E}">
        <p14:creationId xmlns="" xmlns:p14="http://schemas.microsoft.com/office/powerpoint/2010/main" val="1139955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2174557" y="1223962"/>
            <a:ext cx="5731510" cy="3222625"/>
          </a:xfrm>
          <a:prstGeom prst="rect">
            <a:avLst/>
          </a:prstGeom>
        </p:spPr>
      </p:pic>
    </p:spTree>
    <p:extLst>
      <p:ext uri="{BB962C8B-B14F-4D97-AF65-F5344CB8AC3E}">
        <p14:creationId xmlns="" xmlns:p14="http://schemas.microsoft.com/office/powerpoint/2010/main" val="2684557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2174557" y="1223962"/>
            <a:ext cx="5731510" cy="3222625"/>
          </a:xfrm>
          <a:prstGeom prst="rect">
            <a:avLst/>
          </a:prstGeom>
        </p:spPr>
      </p:pic>
    </p:spTree>
    <p:extLst>
      <p:ext uri="{BB962C8B-B14F-4D97-AF65-F5344CB8AC3E}">
        <p14:creationId xmlns="" xmlns:p14="http://schemas.microsoft.com/office/powerpoint/2010/main" val="7336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2174557" y="1223962"/>
            <a:ext cx="5731510" cy="3222625"/>
          </a:xfrm>
          <a:prstGeom prst="rect">
            <a:avLst/>
          </a:prstGeom>
        </p:spPr>
      </p:pic>
    </p:spTree>
    <p:extLst>
      <p:ext uri="{BB962C8B-B14F-4D97-AF65-F5344CB8AC3E}">
        <p14:creationId xmlns="" xmlns:p14="http://schemas.microsoft.com/office/powerpoint/2010/main" val="3436068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2174557" y="1223962"/>
            <a:ext cx="5731510" cy="3222625"/>
          </a:xfrm>
          <a:prstGeom prst="rect">
            <a:avLst/>
          </a:prstGeom>
        </p:spPr>
      </p:pic>
    </p:spTree>
    <p:extLst>
      <p:ext uri="{BB962C8B-B14F-4D97-AF65-F5344CB8AC3E}">
        <p14:creationId xmlns="" xmlns:p14="http://schemas.microsoft.com/office/powerpoint/2010/main" val="3634582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2174557" y="1223962"/>
            <a:ext cx="5731510" cy="32226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78F02837-69E7-F570-94A1-F410F148CCE6}"/>
              </a:ext>
            </a:extLst>
          </p:cNvPr>
          <p:cNvSpPr txBox="1"/>
          <p:nvPr/>
        </p:nvSpPr>
        <p:spPr>
          <a:xfrm>
            <a:off x="3761815" y="435057"/>
            <a:ext cx="5041024"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a:t>
            </a:r>
            <a:r>
              <a:rPr lang="en-IN" sz="3200" b="1" dirty="0" smtClean="0">
                <a:latin typeface="Times New Roman" panose="02020603050405020304" pitchFamily="18" charset="0"/>
                <a:cs typeface="Times New Roman" panose="02020603050405020304" pitchFamily="18" charset="0"/>
              </a:rPr>
              <a:t>onclusion</a:t>
            </a:r>
            <a:endParaRPr lang="en-IN" sz="32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 xmlns:a16="http://schemas.microsoft.com/office/drawing/2014/main" id="{012400A7-CB27-3D65-CD21-44DDFBB3A8EA}"/>
              </a:ext>
            </a:extLst>
          </p:cNvPr>
          <p:cNvSpPr>
            <a:spLocks noChangeArrowheads="1"/>
          </p:cNvSpPr>
          <p:nvPr/>
        </p:nvSpPr>
        <p:spPr bwMode="auto">
          <a:xfrm>
            <a:off x="803709" y="838990"/>
            <a:ext cx="8528550" cy="46183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IN" dirty="0" smtClean="0">
                <a:latin typeface="Times New Roman"/>
                <a:ea typeface="Calibri"/>
                <a:cs typeface="Times New Roman"/>
              </a:rPr>
              <a:t>This study demonstrates a novel and innovative approach to predicting an individual's blood group using fingerprint images captured via a Thermal Spectroscopic </a:t>
            </a:r>
            <a:r>
              <a:rPr lang="en-IN" dirty="0" err="1" smtClean="0">
                <a:latin typeface="Times New Roman"/>
                <a:ea typeface="Calibri"/>
                <a:cs typeface="Times New Roman"/>
              </a:rPr>
              <a:t>Photoplethysmographic</a:t>
            </a:r>
            <a:r>
              <a:rPr lang="en-IN" dirty="0" smtClean="0">
                <a:latin typeface="Times New Roman"/>
                <a:ea typeface="Calibri"/>
                <a:cs typeface="Times New Roman"/>
              </a:rPr>
              <a:t> (PPG) sensor. By extracting Gabor features from these fingerprint images and training a </a:t>
            </a:r>
            <a:r>
              <a:rPr lang="en-IN" dirty="0" err="1" smtClean="0">
                <a:latin typeface="Times New Roman"/>
                <a:ea typeface="Calibri"/>
                <a:cs typeface="Times New Roman"/>
              </a:rPr>
              <a:t>Convolutional</a:t>
            </a:r>
            <a:r>
              <a:rPr lang="en-IN" dirty="0" smtClean="0">
                <a:latin typeface="Times New Roman"/>
                <a:ea typeface="Calibri"/>
                <a:cs typeface="Times New Roman"/>
              </a:rPr>
              <a:t> Neural Network (CNN)-based machine learning model, the system achieved an impressive prediction accuracy of 97%. The model consistently performed well across various evaluation metrics including precision, recall, and F1-score, as visualized through accuracy-loss graphs. The system provides a practical, non-invasive, and efficient method for blood group classification, which could prove valuable in medical, forensic, and biometric identification scenarios. Through an intuitive interface and seamless image processing pipeline, this application enables users to accurately predict blood groups from thermal fingerprint scans.</a:t>
            </a:r>
            <a:endParaRPr lang="en-US" sz="1400" dirty="0">
              <a:latin typeface="Calibri"/>
              <a:ea typeface="Calibri"/>
              <a:cs typeface="Times New Roman"/>
            </a:endParaRPr>
          </a:p>
        </p:txBody>
      </p:sp>
    </p:spTree>
    <p:extLst>
      <p:ext uri="{BB962C8B-B14F-4D97-AF65-F5344CB8AC3E}">
        <p14:creationId xmlns="" xmlns:p14="http://schemas.microsoft.com/office/powerpoint/2010/main" val="2421307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5D5A5E8B-BA49-8881-A56C-446675C4133C}"/>
              </a:ext>
            </a:extLst>
          </p:cNvPr>
          <p:cNvSpPr txBox="1"/>
          <p:nvPr/>
        </p:nvSpPr>
        <p:spPr>
          <a:xfrm>
            <a:off x="3344957" y="460095"/>
            <a:ext cx="5041024"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F</a:t>
            </a:r>
            <a:r>
              <a:rPr lang="en-IN" sz="3200" b="1" dirty="0" smtClean="0">
                <a:latin typeface="Times New Roman" panose="02020603050405020304" pitchFamily="18" charset="0"/>
                <a:cs typeface="Times New Roman" panose="02020603050405020304" pitchFamily="18" charset="0"/>
              </a:rPr>
              <a:t>uture </a:t>
            </a:r>
            <a:r>
              <a:rPr lang="en-IN" sz="3200" b="1" dirty="0">
                <a:latin typeface="Times New Roman" panose="02020603050405020304" pitchFamily="18" charset="0"/>
                <a:cs typeface="Times New Roman" panose="02020603050405020304" pitchFamily="18" charset="0"/>
              </a:rPr>
              <a:t>work</a:t>
            </a:r>
          </a:p>
        </p:txBody>
      </p:sp>
      <p:sp>
        <p:nvSpPr>
          <p:cNvPr id="4" name="Rectangle 1">
            <a:extLst>
              <a:ext uri="{FF2B5EF4-FFF2-40B4-BE49-F238E27FC236}">
                <a16:creationId xmlns="" xmlns:a16="http://schemas.microsoft.com/office/drawing/2014/main" id="{E44B1C4B-0455-4877-9244-EEF3D798AF86}"/>
              </a:ext>
            </a:extLst>
          </p:cNvPr>
          <p:cNvSpPr>
            <a:spLocks noChangeArrowheads="1"/>
          </p:cNvSpPr>
          <p:nvPr/>
        </p:nvSpPr>
        <p:spPr bwMode="auto">
          <a:xfrm>
            <a:off x="806825" y="1070513"/>
            <a:ext cx="8404412" cy="463966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US" dirty="0" smtClean="0">
                <a:latin typeface="Times New Roman"/>
                <a:ea typeface="Calibri"/>
                <a:cs typeface="Times New Roman"/>
              </a:rPr>
              <a:t>While the results are promising, several opportunities exist to further enhance and expand the proposed system. Future work could focus on increasing the dataset size and diversity to improve the generalization of the model, particularly for rare blood types. Integrating other biometric features such as palm prints or retinal scans may also help in improving prediction reliability. Additionally, exploring deep learning architectures beyond CNN—such as Transformers or hybrid models—could offer performance gains. Real-time processing capabilities and cross-platform deployment (e.g., mobile or embedded systems) could further broaden the application’s utility. Finally, collaboration with healthcare providers could facilitate real-world testing, validation, and potential regulatory approvals for clinical or emergency use.</a:t>
            </a:r>
            <a:endParaRPr lang="en-US" sz="1400" dirty="0" smtClean="0">
              <a:latin typeface="Calibri"/>
              <a:ea typeface="Calibri"/>
              <a:cs typeface="Times New Roman"/>
            </a:endParaRPr>
          </a:p>
          <a:p>
            <a:pPr marL="342900" lvl="0" indent="-342900" algn="just">
              <a:lnSpc>
                <a:spcPct val="150000"/>
              </a:lnSpc>
              <a:spcAft>
                <a:spcPts val="800"/>
              </a:spcAft>
              <a:tabLst>
                <a:tab pos="457200" algn="l"/>
              </a:tabLst>
            </a:pPr>
            <a:endParaRPr lang="en-US" sz="1400" dirty="0">
              <a:latin typeface="Calibri"/>
              <a:ea typeface="Calibri"/>
              <a:cs typeface="Times New Roman"/>
            </a:endParaRPr>
          </a:p>
        </p:txBody>
      </p:sp>
    </p:spTree>
    <p:extLst>
      <p:ext uri="{BB962C8B-B14F-4D97-AF65-F5344CB8AC3E}">
        <p14:creationId xmlns="" xmlns:p14="http://schemas.microsoft.com/office/powerpoint/2010/main" val="38269495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BF5C202-A8AF-CB20-14FE-1BC7A0FB86ED}"/>
              </a:ext>
            </a:extLst>
          </p:cNvPr>
          <p:cNvSpPr txBox="1"/>
          <p:nvPr/>
        </p:nvSpPr>
        <p:spPr>
          <a:xfrm>
            <a:off x="2299795" y="376633"/>
            <a:ext cx="5041024" cy="584775"/>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R</a:t>
            </a:r>
            <a:r>
              <a:rPr lang="en-IN" sz="3200" b="1" dirty="0" smtClean="0">
                <a:latin typeface="Times New Roman" panose="02020603050405020304" pitchFamily="18" charset="0"/>
                <a:cs typeface="Times New Roman" panose="02020603050405020304" pitchFamily="18" charset="0"/>
              </a:rPr>
              <a:t>eference</a:t>
            </a:r>
            <a:endParaRPr lang="en-IN" sz="32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 xmlns:a16="http://schemas.microsoft.com/office/drawing/2014/main" id="{E0363BAD-9D9D-747A-CFE6-730AB53B6F35}"/>
              </a:ext>
            </a:extLst>
          </p:cNvPr>
          <p:cNvSpPr>
            <a:spLocks noChangeArrowheads="1"/>
          </p:cNvSpPr>
          <p:nvPr/>
        </p:nvSpPr>
        <p:spPr bwMode="auto">
          <a:xfrm>
            <a:off x="805267" y="766713"/>
            <a:ext cx="8943849" cy="49859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nSpc>
                <a:spcPct val="150000"/>
              </a:lnSpc>
              <a:spcAft>
                <a:spcPts val="0"/>
              </a:spcAft>
              <a:tabLst>
                <a:tab pos="457200" algn="l"/>
              </a:tabLst>
            </a:pPr>
            <a:r>
              <a:rPr lang="en-US" dirty="0" smtClean="0">
                <a:latin typeface="Times New Roman"/>
                <a:ea typeface="Times New Roman"/>
                <a:cs typeface="Times New Roman"/>
              </a:rPr>
              <a:t>  </a:t>
            </a:r>
            <a:r>
              <a:rPr lang="en-US" b="1" dirty="0" smtClean="0">
                <a:latin typeface="Times New Roman"/>
                <a:ea typeface="Times New Roman"/>
                <a:cs typeface="Times New Roman"/>
              </a:rPr>
              <a:t>Jain, A. K., Ross, A., &amp; </a:t>
            </a:r>
            <a:r>
              <a:rPr lang="en-US" b="1" dirty="0" err="1" smtClean="0">
                <a:latin typeface="Times New Roman"/>
                <a:ea typeface="Times New Roman"/>
                <a:cs typeface="Times New Roman"/>
              </a:rPr>
              <a:t>Prabhakar</a:t>
            </a:r>
            <a:r>
              <a:rPr lang="en-US" b="1" dirty="0" smtClean="0">
                <a:latin typeface="Times New Roman"/>
                <a:ea typeface="Times New Roman"/>
                <a:cs typeface="Times New Roman"/>
              </a:rPr>
              <a:t>, S.</a:t>
            </a:r>
            <a:r>
              <a:rPr lang="en-US" dirty="0" smtClean="0">
                <a:latin typeface="Times New Roman"/>
                <a:ea typeface="Times New Roman"/>
                <a:cs typeface="Times New Roman"/>
              </a:rPr>
              <a:t> (2004). </a:t>
            </a:r>
            <a:r>
              <a:rPr lang="en-US" i="1" dirty="0" smtClean="0">
                <a:latin typeface="Times New Roman"/>
                <a:ea typeface="Times New Roman"/>
                <a:cs typeface="Times New Roman"/>
              </a:rPr>
              <a:t>An introduction to biometric recognition</a:t>
            </a:r>
            <a:r>
              <a:rPr lang="en-US" dirty="0" smtClean="0">
                <a:latin typeface="Times New Roman"/>
                <a:ea typeface="Times New Roman"/>
                <a:cs typeface="Times New Roman"/>
              </a:rPr>
              <a:t>. IEEE Transactions on Circuits and Systems for Video Technology, 14(1), 4–20.</a:t>
            </a:r>
            <a:br>
              <a:rPr lang="en-US" dirty="0" smtClean="0">
                <a:latin typeface="Times New Roman"/>
                <a:ea typeface="Times New Roman"/>
                <a:cs typeface="Times New Roman"/>
              </a:rPr>
            </a:br>
            <a:endParaRPr lang="en-US" sz="1600" dirty="0" smtClean="0">
              <a:latin typeface="Calibri"/>
              <a:ea typeface="Calibri"/>
              <a:cs typeface="Times New Roman"/>
            </a:endParaRPr>
          </a:p>
          <a:p>
            <a:pPr marL="342900" lvl="0" indent="-342900">
              <a:lnSpc>
                <a:spcPct val="150000"/>
              </a:lnSpc>
              <a:spcAft>
                <a:spcPts val="0"/>
              </a:spcAft>
              <a:tabLst>
                <a:tab pos="457200" algn="l"/>
              </a:tabLst>
            </a:pPr>
            <a:r>
              <a:rPr lang="en-US" dirty="0" smtClean="0">
                <a:latin typeface="Times New Roman"/>
                <a:ea typeface="Times New Roman"/>
                <a:cs typeface="Times New Roman"/>
              </a:rPr>
              <a:t>  </a:t>
            </a:r>
            <a:r>
              <a:rPr lang="en-US" b="1" dirty="0" err="1" smtClean="0">
                <a:latin typeface="Times New Roman"/>
                <a:ea typeface="Times New Roman"/>
                <a:cs typeface="Times New Roman"/>
              </a:rPr>
              <a:t>Maltoni</a:t>
            </a:r>
            <a:r>
              <a:rPr lang="en-US" b="1" dirty="0" smtClean="0">
                <a:latin typeface="Times New Roman"/>
                <a:ea typeface="Times New Roman"/>
                <a:cs typeface="Times New Roman"/>
              </a:rPr>
              <a:t>, D., </a:t>
            </a:r>
            <a:r>
              <a:rPr lang="en-US" b="1" dirty="0" err="1" smtClean="0">
                <a:latin typeface="Times New Roman"/>
                <a:ea typeface="Times New Roman"/>
                <a:cs typeface="Times New Roman"/>
              </a:rPr>
              <a:t>Maio</a:t>
            </a:r>
            <a:r>
              <a:rPr lang="en-US" b="1" dirty="0" smtClean="0">
                <a:latin typeface="Times New Roman"/>
                <a:ea typeface="Times New Roman"/>
                <a:cs typeface="Times New Roman"/>
              </a:rPr>
              <a:t>, D., Jain, A. K., &amp; </a:t>
            </a:r>
            <a:r>
              <a:rPr lang="en-US" b="1" dirty="0" err="1" smtClean="0">
                <a:latin typeface="Times New Roman"/>
                <a:ea typeface="Times New Roman"/>
                <a:cs typeface="Times New Roman"/>
              </a:rPr>
              <a:t>Prabhakar</a:t>
            </a:r>
            <a:r>
              <a:rPr lang="en-US" b="1" dirty="0" smtClean="0">
                <a:latin typeface="Times New Roman"/>
                <a:ea typeface="Times New Roman"/>
                <a:cs typeface="Times New Roman"/>
              </a:rPr>
              <a:t>, S.</a:t>
            </a:r>
            <a:r>
              <a:rPr lang="en-US" dirty="0" smtClean="0">
                <a:latin typeface="Times New Roman"/>
                <a:ea typeface="Times New Roman"/>
                <a:cs typeface="Times New Roman"/>
              </a:rPr>
              <a:t> (2009). </a:t>
            </a:r>
            <a:r>
              <a:rPr lang="en-US" i="1" dirty="0" smtClean="0">
                <a:latin typeface="Times New Roman"/>
                <a:ea typeface="Times New Roman"/>
                <a:cs typeface="Times New Roman"/>
              </a:rPr>
              <a:t>Handbook of Fingerprint Recognition</a:t>
            </a:r>
            <a:r>
              <a:rPr lang="en-US" dirty="0" smtClean="0">
                <a:latin typeface="Times New Roman"/>
                <a:ea typeface="Times New Roman"/>
                <a:cs typeface="Times New Roman"/>
              </a:rPr>
              <a:t>. Springer Science &amp; Business Media.</a:t>
            </a:r>
            <a:br>
              <a:rPr lang="en-US" dirty="0" smtClean="0">
                <a:latin typeface="Times New Roman"/>
                <a:ea typeface="Times New Roman"/>
                <a:cs typeface="Times New Roman"/>
              </a:rPr>
            </a:br>
            <a:endParaRPr lang="en-US" sz="1600" dirty="0" smtClean="0">
              <a:latin typeface="Calibri"/>
              <a:ea typeface="Calibri"/>
              <a:cs typeface="Times New Roman"/>
            </a:endParaRPr>
          </a:p>
          <a:p>
            <a:pPr marL="342900" lvl="0" indent="-342900">
              <a:lnSpc>
                <a:spcPct val="150000"/>
              </a:lnSpc>
              <a:spcAft>
                <a:spcPts val="0"/>
              </a:spcAft>
              <a:tabLst>
                <a:tab pos="457200" algn="l"/>
              </a:tabLst>
            </a:pPr>
            <a:r>
              <a:rPr lang="en-US" dirty="0" smtClean="0">
                <a:latin typeface="Times New Roman"/>
                <a:ea typeface="Times New Roman"/>
                <a:cs typeface="Times New Roman"/>
              </a:rPr>
              <a:t>  </a:t>
            </a:r>
            <a:r>
              <a:rPr lang="en-US" b="1" dirty="0" err="1" smtClean="0">
                <a:latin typeface="Times New Roman"/>
                <a:ea typeface="Times New Roman"/>
                <a:cs typeface="Times New Roman"/>
              </a:rPr>
              <a:t>Dey</a:t>
            </a:r>
            <a:r>
              <a:rPr lang="en-US" b="1" dirty="0" smtClean="0">
                <a:latin typeface="Times New Roman"/>
                <a:ea typeface="Times New Roman"/>
                <a:cs typeface="Times New Roman"/>
              </a:rPr>
              <a:t>, S., </a:t>
            </a:r>
            <a:r>
              <a:rPr lang="en-US" b="1" dirty="0" err="1" smtClean="0">
                <a:latin typeface="Times New Roman"/>
                <a:ea typeface="Times New Roman"/>
                <a:cs typeface="Times New Roman"/>
              </a:rPr>
              <a:t>Ghosh</a:t>
            </a:r>
            <a:r>
              <a:rPr lang="en-US" b="1" dirty="0" smtClean="0">
                <a:latin typeface="Times New Roman"/>
                <a:ea typeface="Times New Roman"/>
                <a:cs typeface="Times New Roman"/>
              </a:rPr>
              <a:t>, A., &amp; Bhattacharya, U.</a:t>
            </a:r>
            <a:r>
              <a:rPr lang="en-US" dirty="0" smtClean="0">
                <a:latin typeface="Times New Roman"/>
                <a:ea typeface="Times New Roman"/>
                <a:cs typeface="Times New Roman"/>
              </a:rPr>
              <a:t> (2015). </a:t>
            </a:r>
            <a:r>
              <a:rPr lang="en-US" i="1" dirty="0" smtClean="0">
                <a:latin typeface="Times New Roman"/>
                <a:ea typeface="Times New Roman"/>
                <a:cs typeface="Times New Roman"/>
              </a:rPr>
              <a:t>Fingerprint classification using a deep learning approach</a:t>
            </a:r>
            <a:r>
              <a:rPr lang="en-US" dirty="0" smtClean="0">
                <a:latin typeface="Times New Roman"/>
                <a:ea typeface="Times New Roman"/>
                <a:cs typeface="Times New Roman"/>
              </a:rPr>
              <a:t>. In Proceedings of the International Conference on Pattern Recognition (ICPR).</a:t>
            </a:r>
            <a:br>
              <a:rPr lang="en-US" dirty="0" smtClean="0">
                <a:latin typeface="Times New Roman"/>
                <a:ea typeface="Times New Roman"/>
                <a:cs typeface="Times New Roman"/>
              </a:rPr>
            </a:br>
            <a:endParaRPr lang="en-US" sz="1600" dirty="0" smtClean="0">
              <a:latin typeface="Calibri"/>
              <a:ea typeface="Calibri"/>
              <a:cs typeface="Times New Roman"/>
            </a:endParaRPr>
          </a:p>
          <a:p>
            <a:pPr marL="342900" lvl="0" indent="-342900">
              <a:lnSpc>
                <a:spcPct val="150000"/>
              </a:lnSpc>
              <a:spcAft>
                <a:spcPts val="800"/>
              </a:spcAft>
              <a:tabLst>
                <a:tab pos="457200" algn="l"/>
              </a:tabLst>
            </a:pPr>
            <a:r>
              <a:rPr lang="en-US" dirty="0" smtClean="0">
                <a:latin typeface="Times New Roman"/>
                <a:ea typeface="Times New Roman"/>
                <a:cs typeface="Times New Roman"/>
              </a:rPr>
              <a:t>  </a:t>
            </a:r>
            <a:r>
              <a:rPr lang="en-US" b="1" dirty="0" smtClean="0">
                <a:latin typeface="Times New Roman"/>
                <a:ea typeface="Times New Roman"/>
                <a:cs typeface="Times New Roman"/>
              </a:rPr>
              <a:t>Peterson, L. E.</a:t>
            </a:r>
            <a:r>
              <a:rPr lang="en-US" dirty="0" smtClean="0">
                <a:latin typeface="Times New Roman"/>
                <a:ea typeface="Times New Roman"/>
                <a:cs typeface="Times New Roman"/>
              </a:rPr>
              <a:t> (2009). </a:t>
            </a:r>
            <a:r>
              <a:rPr lang="en-US" i="1" dirty="0" smtClean="0">
                <a:latin typeface="Times New Roman"/>
                <a:ea typeface="Times New Roman"/>
                <a:cs typeface="Times New Roman"/>
              </a:rPr>
              <a:t>K-nearest neighbor</a:t>
            </a:r>
            <a:r>
              <a:rPr lang="en-US" dirty="0" smtClean="0">
                <a:latin typeface="Times New Roman"/>
                <a:ea typeface="Times New Roman"/>
                <a:cs typeface="Times New Roman"/>
              </a:rPr>
              <a:t>. </a:t>
            </a:r>
            <a:r>
              <a:rPr lang="en-US" dirty="0" err="1" smtClean="0">
                <a:latin typeface="Times New Roman"/>
                <a:ea typeface="Times New Roman"/>
                <a:cs typeface="Times New Roman"/>
              </a:rPr>
              <a:t>Scholarpedia</a:t>
            </a:r>
            <a:r>
              <a:rPr lang="en-US" dirty="0" smtClean="0">
                <a:latin typeface="Times New Roman"/>
                <a:ea typeface="Times New Roman"/>
                <a:cs typeface="Times New Roman"/>
              </a:rPr>
              <a:t>, 4(2), 1883.</a:t>
            </a:r>
            <a:br>
              <a:rPr lang="en-US" dirty="0" smtClean="0">
                <a:latin typeface="Times New Roman"/>
                <a:ea typeface="Times New Roman"/>
                <a:cs typeface="Times New Roman"/>
              </a:rPr>
            </a:br>
            <a:endParaRPr lang="en-US" sz="1600" dirty="0">
              <a:latin typeface="Calibri"/>
              <a:ea typeface="Calibri"/>
              <a:cs typeface="Times New Roman"/>
            </a:endParaRPr>
          </a:p>
        </p:txBody>
      </p:sp>
    </p:spTree>
    <p:extLst>
      <p:ext uri="{BB962C8B-B14F-4D97-AF65-F5344CB8AC3E}">
        <p14:creationId xmlns="" xmlns:p14="http://schemas.microsoft.com/office/powerpoint/2010/main" val="38007050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 xmlns:a16="http://schemas.microsoft.com/office/drawing/2014/main" id="{84F27C7C-BEEF-C488-F786-980A6FC08CF4}"/>
              </a:ext>
            </a:extLst>
          </p:cNvPr>
          <p:cNvSpPr>
            <a:spLocks noGrp="1"/>
          </p:cNvSpPr>
          <p:nvPr>
            <p:ph type="subTitle"/>
          </p:nvPr>
        </p:nvSpPr>
        <p:spPr/>
        <p:txBody>
          <a:bodyPr/>
          <a:lstStyle/>
          <a:p>
            <a:pPr marL="0" indent="0" algn="ctr">
              <a:buNone/>
            </a:pPr>
            <a:r>
              <a:rPr lang="en-US" sz="5400" dirty="0">
                <a:latin typeface="Times New Roman" panose="02020603050405020304" pitchFamily="18" charset="0"/>
                <a:cs typeface="Times New Roman" panose="02020603050405020304" pitchFamily="18" charset="0"/>
              </a:rPr>
              <a:t>THANK YOU</a:t>
            </a:r>
            <a:endParaRPr lang="en-IN" sz="5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400875779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362</TotalTime>
  <Words>915</Words>
  <Application>Microsoft Office PowerPoint</Application>
  <PresentationFormat>Custom</PresentationFormat>
  <Paragraphs>51</Paragraphs>
  <Slides>27</Slides>
  <Notes>0</Notes>
  <HiddenSlides>0</HiddenSlides>
  <MMClips>0</MMClips>
  <ScaleCrop>false</ScaleCrop>
  <HeadingPairs>
    <vt:vector size="4" baseType="variant">
      <vt:variant>
        <vt:lpstr>Theme</vt:lpstr>
      </vt:variant>
      <vt:variant>
        <vt:i4>3</vt:i4>
      </vt:variant>
      <vt:variant>
        <vt:lpstr>Slide Titles</vt:lpstr>
      </vt:variant>
      <vt:variant>
        <vt:i4>27</vt:i4>
      </vt:variant>
    </vt:vector>
  </HeadingPairs>
  <TitlesOfParts>
    <vt:vector size="30" baseType="lpstr">
      <vt:lpstr>Office Theme</vt:lpstr>
      <vt:lpstr>Office Theme</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perikala Gowtham</dc:creator>
  <cp:lastModifiedBy>sandeep</cp:lastModifiedBy>
  <cp:revision>33</cp:revision>
  <dcterms:created xsi:type="dcterms:W3CDTF">2024-02-19T10:18:03Z</dcterms:created>
  <dcterms:modified xsi:type="dcterms:W3CDTF">2025-05-22T11:53:23Z</dcterms:modified>
  <dc:language>en-IN</dc:language>
</cp:coreProperties>
</file>